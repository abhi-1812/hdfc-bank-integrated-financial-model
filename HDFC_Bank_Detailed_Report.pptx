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800" b="0" i="0" u="none" strike="noStrike">
                <a:solidFill>
                  <a:srgbClr val="000000"/>
                </a:solidFill>
                <a:latin typeface="Arial"/>
              </a:defRPr>
            </a:pPr>
            <a:r>
              <a:rPr sz="1800" b="0" i="0" u="none" strike="noStrike">
                <a:solidFill>
                  <a:srgbClr val="000000"/>
                </a:solidFill>
                <a:latin typeface="Arial"/>
              </a:rPr>
              <a:t>Net Profit  (₹ Crores)  FY21–FY25</a:t>
            </a:r>
          </a:p>
        </c:rich>
      </c:tx>
      <c:layout/>
      <c:overlay val="0"/>
    </c:title>
    <c:autoTitleDeleted val="0"/>
    <c:plotArea>
      <c:layout/>
      <c:barChart>
        <c:barDir val="col"/>
        <c:grouping val="clustered"/>
        <c:varyColors val="0"/>
        <c:ser>
          <c:idx val="0"/>
          <c:order val="0"/>
          <c:tx>
            <c:strRef>
              <c:f>Sheet1!$B$1</c:f>
              <c:strCache>
                <c:ptCount val="1"/>
                <c:pt idx="0">
                  <c:v>Net Profit (₹ Cr)</c:v>
                </c:pt>
              </c:strCache>
            </c:strRef>
          </c:tx>
          <c:spPr>
            <a:solidFill>
              <a:srgbClr val="2E4A8A"/>
            </a:solidFill>
            <a:effectLst/>
          </c:spPr>
          <c:invertIfNegative val="0"/>
          <c:dLbls>
            <c:numFmt formatCode="#,##0" sourceLinked="0"/>
            <c:txPr>
              <a:bodyPr/>
              <a:lstStyle/>
              <a:p>
                <a:pPr>
                  <a:defRPr b="0" i="0" strike="noStrike" sz="900" u="none">
                    <a:solidFill>
                      <a:srgbClr val="1F3864"/>
                    </a:solidFill>
                    <a:latin typeface="Arial"/>
                  </a:defRPr>
                </a:pPr>
              </a:p>
            </c:txPr>
            <c:showLegendKey val="0"/>
            <c:showVal val="1"/>
            <c:showCatName val="0"/>
            <c:showSerName val="0"/>
            <c:showPercent val="0"/>
            <c:showBubbleSize val="0"/>
            <c:showLeaderLines val="0"/>
          </c:dLbls>
          <c:cat>
            <c:multiLvlStrRef>
              <c:f>Sheet1!$A$2:$A$6</c:f>
              <c:multiLvlStrCache>
                <c:ptCount val="5"/>
                <c:lvl>
                  <c:pt idx="0">
                    <c:v>FY21</c:v>
                  </c:pt>
                  <c:pt idx="1">
                    <c:v>FY22</c:v>
                  </c:pt>
                  <c:pt idx="2">
                    <c:v>FY23</c:v>
                  </c:pt>
                  <c:pt idx="3">
                    <c:v>FY24</c:v>
                  </c:pt>
                  <c:pt idx="4">
                    <c:v>FY25</c:v>
                  </c:pt>
                </c:lvl>
              </c:multiLvlStrCache>
            </c:multiLvlStrRef>
          </c:cat>
          <c:val>
            <c:numRef>
              <c:f>Sheet1!$B$2:$B$6</c:f>
              <c:numCache>
                <c:formatCode>General</c:formatCode>
                <c:ptCount val="5"/>
                <c:pt idx="0">
                  <c:v>31116</c:v>
                </c:pt>
                <c:pt idx="1">
                  <c:v>36961</c:v>
                </c:pt>
                <c:pt idx="2">
                  <c:v>44109</c:v>
                </c:pt>
                <c:pt idx="3">
                  <c:v>60811</c:v>
                </c:pt>
                <c:pt idx="4">
                  <c:v>68000</c:v>
                </c:pt>
              </c:numCache>
            </c:numRef>
          </c:val>
        </c:ser>
        <c:dLbls>
          <c:numFmt formatCode="#,##0" sourceLinked="0"/>
          <c:txPr>
            <a:bodyPr/>
            <a:lstStyle/>
            <a:p>
              <a:pPr>
                <a:defRPr b="0" i="0" strike="noStrike" sz="900" u="none">
                  <a:solidFill>
                    <a:srgbClr val="1F386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6DC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800" b="0" i="0" u="none" strike="noStrike">
                <a:solidFill>
                  <a:srgbClr val="000000"/>
                </a:solidFill>
                <a:latin typeface="Arial"/>
              </a:defRPr>
            </a:pPr>
            <a:r>
              <a:rPr sz="1800" b="0" i="0" u="none" strike="noStrike">
                <a:solidFill>
                  <a:srgbClr val="000000"/>
                </a:solidFill>
                <a:latin typeface="Arial"/>
              </a:rPr>
              <a:t>Return on Equity — ROE (%)  FY21–FY25</a:t>
            </a:r>
          </a:p>
        </c:rich>
      </c:tx>
      <c:layout/>
      <c:overlay val="0"/>
    </c:title>
    <c:autoTitleDeleted val="0"/>
    <c:plotArea>
      <c:layout/>
      <c:lineChart>
        <c:varyColors val="0"/>
        <c:ser>
          <c:idx val="0"/>
          <c:order val="0"/>
          <c:tx>
            <c:strRef>
              <c:f>Sheet1!$B$1</c:f>
              <c:strCache>
                <c:ptCount val="1"/>
                <c:pt idx="0">
                  <c:v>ROE (%)</c:v>
                </c:pt>
              </c:strCache>
            </c:strRef>
          </c:tx>
          <c:spPr>
            <a:solidFill>
              <a:srgbClr val="C9A84C"/>
            </a:solidFill>
            <a:ln w="38100" cap="flat">
              <a:solidFill>
                <a:srgbClr val="C9A84C"/>
              </a:solidFill>
              <a:prstDash val="solid"/>
              <a:round/>
            </a:ln>
            <a:effectLst/>
          </c:spPr>
          <c:invertIfNegative val="0"/>
          <c:dLbls>
            <c:numFmt formatCode="#,##0" sourceLinked="0"/>
            <c:txPr>
              <a:bodyPr/>
              <a:lstStyle/>
              <a:p>
                <a:pPr>
                  <a:defRPr b="0" i="0" strike="noStrike" sz="900" u="none">
                    <a:solidFill>
                      <a:srgbClr val="1F3864"/>
                    </a:solidFill>
                    <a:latin typeface="Arial"/>
                  </a:defRPr>
                </a:pPr>
              </a:p>
            </c:txPr>
            <c:showLegendKey val="0"/>
            <c:showVal val="1"/>
            <c:showCatName val="0"/>
            <c:showSerName val="0"/>
            <c:showPercent val="0"/>
            <c:showBubbleSize val="0"/>
            <c:showLeaderLines val="0"/>
          </c:dLbls>
          <c:marker>
            <c:symbol val="circle"/>
            <c:size val="6"/>
            <c:spPr>
              <a:solidFill>
                <a:srgbClr val="C9A84C"/>
              </a:solidFill>
              <a:ln w="9525" cap="flat">
                <a:solidFill>
                  <a:srgbClr val="C9A84C"/>
                </a:solidFill>
                <a:prstDash val="solid"/>
                <a:round/>
              </a:ln>
              <a:effectLst/>
            </c:spPr>
          </c:marker>
          <c:cat>
            <c:multiLvlStrRef>
              <c:f>Sheet1!$A$2:$A$6</c:f>
              <c:multiLvlStrCache>
                <c:ptCount val="5"/>
                <c:lvl>
                  <c:pt idx="0">
                    <c:v>FY21</c:v>
                  </c:pt>
                  <c:pt idx="1">
                    <c:v>FY22</c:v>
                  </c:pt>
                  <c:pt idx="2">
                    <c:v>FY23</c:v>
                  </c:pt>
                  <c:pt idx="3">
                    <c:v>FY24</c:v>
                  </c:pt>
                  <c:pt idx="4">
                    <c:v>FY25</c:v>
                  </c:pt>
                </c:lvl>
              </c:multiLvlStrCache>
            </c:multiLvlStrRef>
          </c:cat>
          <c:val>
            <c:numRef>
              <c:f>Sheet1!$B$2:$B$6</c:f>
              <c:numCache>
                <c:formatCode>General</c:formatCode>
                <c:ptCount val="5"/>
                <c:pt idx="0">
                  <c:v>16.5</c:v>
                </c:pt>
                <c:pt idx="1">
                  <c:v>16.9</c:v>
                </c:pt>
                <c:pt idx="2">
                  <c:v>17.2</c:v>
                </c:pt>
                <c:pt idx="3">
                  <c:v>14.1</c:v>
                </c:pt>
                <c:pt idx="4">
                  <c:v>13</c:v>
                </c:pt>
              </c:numCache>
            </c:numRef>
          </c:val>
          <c:smooth val="1"/>
        </c:ser>
        <c:dLbls>
          <c:numFmt formatCode="#,##0" sourceLinked="0"/>
          <c:txPr>
            <a:bodyPr/>
            <a:lstStyle/>
            <a:p>
              <a:pPr>
                <a:defRPr b="0" i="0" strike="noStrike" sz="900" u="none">
                  <a:solidFill>
                    <a:srgbClr val="1F3864"/>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6DC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800" b="0" i="0" u="none" strike="noStrike">
                <a:solidFill>
                  <a:srgbClr val="000000"/>
                </a:solidFill>
                <a:latin typeface="Arial"/>
              </a:defRPr>
            </a:pPr>
            <a:r>
              <a:rPr sz="1800" b="0" i="0" u="none" strike="noStrike">
                <a:solidFill>
                  <a:srgbClr val="000000"/>
                </a:solidFill>
                <a:latin typeface="Arial"/>
              </a:rPr>
              <a:t>Loan Book Growth  (₹ Crores)</a:t>
            </a:r>
          </a:p>
        </c:rich>
      </c:tx>
      <c:layout/>
      <c:overlay val="0"/>
    </c:title>
    <c:autoTitleDeleted val="0"/>
    <c:plotArea>
      <c:layout/>
      <c:barChart>
        <c:barDir val="col"/>
        <c:grouping val="clustered"/>
        <c:varyColors val="0"/>
        <c:ser>
          <c:idx val="0"/>
          <c:order val="0"/>
          <c:tx>
            <c:strRef>
              <c:f>Sheet1!$B$1</c:f>
              <c:strCache>
                <c:ptCount val="1"/>
                <c:pt idx="0">
                  <c:v>Loan Book (₹ Cr)</c:v>
                </c:pt>
              </c:strCache>
            </c:strRef>
          </c:tx>
          <c:spPr>
            <a:solidFill>
              <a:srgbClr val="4472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FY21</c:v>
                  </c:pt>
                  <c:pt idx="1">
                    <c:v>FY22</c:v>
                  </c:pt>
                  <c:pt idx="2">
                    <c:v>FY23</c:v>
                  </c:pt>
                  <c:pt idx="3">
                    <c:v>FY24</c:v>
                  </c:pt>
                  <c:pt idx="4">
                    <c:v>FY25</c:v>
                  </c:pt>
                </c:lvl>
              </c:multiLvlStrCache>
            </c:multiLvlStrRef>
          </c:cat>
          <c:val>
            <c:numRef>
              <c:f>Sheet1!$B$2:$B$6</c:f>
              <c:numCache>
                <c:formatCode>General</c:formatCode>
                <c:ptCount val="5"/>
                <c:pt idx="0">
                  <c:v>1131900</c:v>
                </c:pt>
                <c:pt idx="1">
                  <c:v>1360000</c:v>
                </c:pt>
                <c:pt idx="2">
                  <c:v>1600000</c:v>
                </c:pt>
                <c:pt idx="3">
                  <c:v>2481200</c:v>
                </c:pt>
                <c:pt idx="4">
                  <c:v>2722000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6DC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9A84C"/>
          </a:solidFill>
          <a:ln w="12700">
            <a:solidFill>
              <a:srgbClr val="C9A84C"/>
            </a:solidFill>
            <a:prstDash val="solid"/>
          </a:ln>
        </p:spPr>
      </p:sp>
      <p:sp>
        <p:nvSpPr>
          <p:cNvPr id="3" name="Shape 1"/>
          <p:cNvSpPr/>
          <p:nvPr/>
        </p:nvSpPr>
        <p:spPr>
          <a:xfrm>
            <a:off x="6400800" y="0"/>
            <a:ext cx="2743200" cy="5143500"/>
          </a:xfrm>
          <a:prstGeom prst="rect">
            <a:avLst/>
          </a:prstGeom>
          <a:solidFill>
            <a:srgbClr val="2E4A8A"/>
          </a:solidFill>
          <a:ln w="12700">
            <a:solidFill>
              <a:srgbClr val="2E4A8A"/>
            </a:solidFill>
            <a:prstDash val="solid"/>
          </a:ln>
        </p:spPr>
      </p:sp>
      <p:sp>
        <p:nvSpPr>
          <p:cNvPr id="4" name="Shape 2"/>
          <p:cNvSpPr/>
          <p:nvPr/>
        </p:nvSpPr>
        <p:spPr>
          <a:xfrm>
            <a:off x="6675120" y="228600"/>
            <a:ext cx="100584" cy="100584"/>
          </a:xfrm>
          <a:prstGeom prst="ellipse">
            <a:avLst/>
          </a:prstGeom>
          <a:solidFill>
            <a:srgbClr val="C9A84C">
              <a:alpha val="35000"/>
            </a:srgbClr>
          </a:solidFill>
          <a:ln w="12700">
            <a:solidFill>
              <a:srgbClr val="C9A84C">
                <a:alpha val="35000"/>
              </a:srgbClr>
            </a:solidFill>
            <a:prstDash val="solid"/>
          </a:ln>
        </p:spPr>
      </p:sp>
      <p:sp>
        <p:nvSpPr>
          <p:cNvPr id="5" name="Shape 3"/>
          <p:cNvSpPr/>
          <p:nvPr/>
        </p:nvSpPr>
        <p:spPr>
          <a:xfrm>
            <a:off x="7205472" y="228600"/>
            <a:ext cx="100584" cy="100584"/>
          </a:xfrm>
          <a:prstGeom prst="ellipse">
            <a:avLst/>
          </a:prstGeom>
          <a:solidFill>
            <a:srgbClr val="C9A84C">
              <a:alpha val="35000"/>
            </a:srgbClr>
          </a:solidFill>
          <a:ln w="12700">
            <a:solidFill>
              <a:srgbClr val="C9A84C">
                <a:alpha val="35000"/>
              </a:srgbClr>
            </a:solidFill>
            <a:prstDash val="solid"/>
          </a:ln>
        </p:spPr>
      </p:sp>
      <p:sp>
        <p:nvSpPr>
          <p:cNvPr id="6" name="Shape 4"/>
          <p:cNvSpPr/>
          <p:nvPr/>
        </p:nvSpPr>
        <p:spPr>
          <a:xfrm>
            <a:off x="7735824" y="228600"/>
            <a:ext cx="100584" cy="100584"/>
          </a:xfrm>
          <a:prstGeom prst="ellipse">
            <a:avLst/>
          </a:prstGeom>
          <a:solidFill>
            <a:srgbClr val="C9A84C">
              <a:alpha val="35000"/>
            </a:srgbClr>
          </a:solidFill>
          <a:ln w="12700">
            <a:solidFill>
              <a:srgbClr val="C9A84C">
                <a:alpha val="35000"/>
              </a:srgbClr>
            </a:solidFill>
            <a:prstDash val="solid"/>
          </a:ln>
        </p:spPr>
      </p:sp>
      <p:sp>
        <p:nvSpPr>
          <p:cNvPr id="7" name="Shape 5"/>
          <p:cNvSpPr/>
          <p:nvPr/>
        </p:nvSpPr>
        <p:spPr>
          <a:xfrm>
            <a:off x="8266176" y="228600"/>
            <a:ext cx="100584" cy="100584"/>
          </a:xfrm>
          <a:prstGeom prst="ellipse">
            <a:avLst/>
          </a:prstGeom>
          <a:solidFill>
            <a:srgbClr val="C9A84C">
              <a:alpha val="35000"/>
            </a:srgbClr>
          </a:solidFill>
          <a:ln w="12700">
            <a:solidFill>
              <a:srgbClr val="C9A84C">
                <a:alpha val="35000"/>
              </a:srgbClr>
            </a:solidFill>
            <a:prstDash val="solid"/>
          </a:ln>
        </p:spPr>
      </p:sp>
      <p:sp>
        <p:nvSpPr>
          <p:cNvPr id="8" name="Shape 6"/>
          <p:cNvSpPr/>
          <p:nvPr/>
        </p:nvSpPr>
        <p:spPr>
          <a:xfrm>
            <a:off x="6675120" y="1051560"/>
            <a:ext cx="100584" cy="100584"/>
          </a:xfrm>
          <a:prstGeom prst="ellipse">
            <a:avLst/>
          </a:prstGeom>
          <a:solidFill>
            <a:srgbClr val="C9A84C">
              <a:alpha val="35000"/>
            </a:srgbClr>
          </a:solidFill>
          <a:ln w="12700">
            <a:solidFill>
              <a:srgbClr val="C9A84C">
                <a:alpha val="35000"/>
              </a:srgbClr>
            </a:solidFill>
            <a:prstDash val="solid"/>
          </a:ln>
        </p:spPr>
      </p:sp>
      <p:sp>
        <p:nvSpPr>
          <p:cNvPr id="9" name="Shape 7"/>
          <p:cNvSpPr/>
          <p:nvPr/>
        </p:nvSpPr>
        <p:spPr>
          <a:xfrm>
            <a:off x="7205472" y="1051560"/>
            <a:ext cx="100584" cy="100584"/>
          </a:xfrm>
          <a:prstGeom prst="ellipse">
            <a:avLst/>
          </a:prstGeom>
          <a:solidFill>
            <a:srgbClr val="C9A84C">
              <a:alpha val="35000"/>
            </a:srgbClr>
          </a:solidFill>
          <a:ln w="12700">
            <a:solidFill>
              <a:srgbClr val="C9A84C">
                <a:alpha val="35000"/>
              </a:srgbClr>
            </a:solidFill>
            <a:prstDash val="solid"/>
          </a:ln>
        </p:spPr>
      </p:sp>
      <p:sp>
        <p:nvSpPr>
          <p:cNvPr id="10" name="Shape 8"/>
          <p:cNvSpPr/>
          <p:nvPr/>
        </p:nvSpPr>
        <p:spPr>
          <a:xfrm>
            <a:off x="7735824" y="1051560"/>
            <a:ext cx="100584" cy="100584"/>
          </a:xfrm>
          <a:prstGeom prst="ellipse">
            <a:avLst/>
          </a:prstGeom>
          <a:solidFill>
            <a:srgbClr val="C9A84C">
              <a:alpha val="35000"/>
            </a:srgbClr>
          </a:solidFill>
          <a:ln w="12700">
            <a:solidFill>
              <a:srgbClr val="C9A84C">
                <a:alpha val="35000"/>
              </a:srgbClr>
            </a:solidFill>
            <a:prstDash val="solid"/>
          </a:ln>
        </p:spPr>
      </p:sp>
      <p:sp>
        <p:nvSpPr>
          <p:cNvPr id="11" name="Shape 9"/>
          <p:cNvSpPr/>
          <p:nvPr/>
        </p:nvSpPr>
        <p:spPr>
          <a:xfrm>
            <a:off x="8266176" y="1051560"/>
            <a:ext cx="100584" cy="100584"/>
          </a:xfrm>
          <a:prstGeom prst="ellipse">
            <a:avLst/>
          </a:prstGeom>
          <a:solidFill>
            <a:srgbClr val="C9A84C">
              <a:alpha val="35000"/>
            </a:srgbClr>
          </a:solidFill>
          <a:ln w="12700">
            <a:solidFill>
              <a:srgbClr val="C9A84C">
                <a:alpha val="35000"/>
              </a:srgbClr>
            </a:solidFill>
            <a:prstDash val="solid"/>
          </a:ln>
        </p:spPr>
      </p:sp>
      <p:sp>
        <p:nvSpPr>
          <p:cNvPr id="12" name="Shape 10"/>
          <p:cNvSpPr/>
          <p:nvPr/>
        </p:nvSpPr>
        <p:spPr>
          <a:xfrm>
            <a:off x="6675120" y="1874520"/>
            <a:ext cx="100584" cy="100584"/>
          </a:xfrm>
          <a:prstGeom prst="ellipse">
            <a:avLst/>
          </a:prstGeom>
          <a:solidFill>
            <a:srgbClr val="C9A84C">
              <a:alpha val="35000"/>
            </a:srgbClr>
          </a:solidFill>
          <a:ln w="12700">
            <a:solidFill>
              <a:srgbClr val="C9A84C">
                <a:alpha val="35000"/>
              </a:srgbClr>
            </a:solidFill>
            <a:prstDash val="solid"/>
          </a:ln>
        </p:spPr>
      </p:sp>
      <p:sp>
        <p:nvSpPr>
          <p:cNvPr id="13" name="Shape 11"/>
          <p:cNvSpPr/>
          <p:nvPr/>
        </p:nvSpPr>
        <p:spPr>
          <a:xfrm>
            <a:off x="7205472" y="1874520"/>
            <a:ext cx="100584" cy="100584"/>
          </a:xfrm>
          <a:prstGeom prst="ellipse">
            <a:avLst/>
          </a:prstGeom>
          <a:solidFill>
            <a:srgbClr val="C9A84C">
              <a:alpha val="35000"/>
            </a:srgbClr>
          </a:solidFill>
          <a:ln w="12700">
            <a:solidFill>
              <a:srgbClr val="C9A84C">
                <a:alpha val="35000"/>
              </a:srgbClr>
            </a:solidFill>
            <a:prstDash val="solid"/>
          </a:ln>
        </p:spPr>
      </p:sp>
      <p:sp>
        <p:nvSpPr>
          <p:cNvPr id="14" name="Shape 12"/>
          <p:cNvSpPr/>
          <p:nvPr/>
        </p:nvSpPr>
        <p:spPr>
          <a:xfrm>
            <a:off x="7735824" y="1874520"/>
            <a:ext cx="100584" cy="100584"/>
          </a:xfrm>
          <a:prstGeom prst="ellipse">
            <a:avLst/>
          </a:prstGeom>
          <a:solidFill>
            <a:srgbClr val="C9A84C">
              <a:alpha val="35000"/>
            </a:srgbClr>
          </a:solidFill>
          <a:ln w="12700">
            <a:solidFill>
              <a:srgbClr val="C9A84C">
                <a:alpha val="35000"/>
              </a:srgbClr>
            </a:solidFill>
            <a:prstDash val="solid"/>
          </a:ln>
        </p:spPr>
      </p:sp>
      <p:sp>
        <p:nvSpPr>
          <p:cNvPr id="15" name="Shape 13"/>
          <p:cNvSpPr/>
          <p:nvPr/>
        </p:nvSpPr>
        <p:spPr>
          <a:xfrm>
            <a:off x="8266176" y="1874520"/>
            <a:ext cx="100584" cy="100584"/>
          </a:xfrm>
          <a:prstGeom prst="ellipse">
            <a:avLst/>
          </a:prstGeom>
          <a:solidFill>
            <a:srgbClr val="C9A84C">
              <a:alpha val="35000"/>
            </a:srgbClr>
          </a:solidFill>
          <a:ln w="12700">
            <a:solidFill>
              <a:srgbClr val="C9A84C">
                <a:alpha val="35000"/>
              </a:srgbClr>
            </a:solidFill>
            <a:prstDash val="solid"/>
          </a:ln>
        </p:spPr>
      </p:sp>
      <p:sp>
        <p:nvSpPr>
          <p:cNvPr id="16" name="Shape 14"/>
          <p:cNvSpPr/>
          <p:nvPr/>
        </p:nvSpPr>
        <p:spPr>
          <a:xfrm>
            <a:off x="6675120" y="2697480"/>
            <a:ext cx="100584" cy="100584"/>
          </a:xfrm>
          <a:prstGeom prst="ellipse">
            <a:avLst/>
          </a:prstGeom>
          <a:solidFill>
            <a:srgbClr val="C9A84C">
              <a:alpha val="35000"/>
            </a:srgbClr>
          </a:solidFill>
          <a:ln w="12700">
            <a:solidFill>
              <a:srgbClr val="C9A84C">
                <a:alpha val="35000"/>
              </a:srgbClr>
            </a:solidFill>
            <a:prstDash val="solid"/>
          </a:ln>
        </p:spPr>
      </p:sp>
      <p:sp>
        <p:nvSpPr>
          <p:cNvPr id="17" name="Shape 15"/>
          <p:cNvSpPr/>
          <p:nvPr/>
        </p:nvSpPr>
        <p:spPr>
          <a:xfrm>
            <a:off x="7205472" y="2697480"/>
            <a:ext cx="100584" cy="100584"/>
          </a:xfrm>
          <a:prstGeom prst="ellipse">
            <a:avLst/>
          </a:prstGeom>
          <a:solidFill>
            <a:srgbClr val="C9A84C">
              <a:alpha val="35000"/>
            </a:srgbClr>
          </a:solidFill>
          <a:ln w="12700">
            <a:solidFill>
              <a:srgbClr val="C9A84C">
                <a:alpha val="35000"/>
              </a:srgbClr>
            </a:solidFill>
            <a:prstDash val="solid"/>
          </a:ln>
        </p:spPr>
      </p:sp>
      <p:sp>
        <p:nvSpPr>
          <p:cNvPr id="18" name="Shape 16"/>
          <p:cNvSpPr/>
          <p:nvPr/>
        </p:nvSpPr>
        <p:spPr>
          <a:xfrm>
            <a:off x="7735824" y="2697480"/>
            <a:ext cx="100584" cy="100584"/>
          </a:xfrm>
          <a:prstGeom prst="ellipse">
            <a:avLst/>
          </a:prstGeom>
          <a:solidFill>
            <a:srgbClr val="C9A84C">
              <a:alpha val="35000"/>
            </a:srgbClr>
          </a:solidFill>
          <a:ln w="12700">
            <a:solidFill>
              <a:srgbClr val="C9A84C">
                <a:alpha val="35000"/>
              </a:srgbClr>
            </a:solidFill>
            <a:prstDash val="solid"/>
          </a:ln>
        </p:spPr>
      </p:sp>
      <p:sp>
        <p:nvSpPr>
          <p:cNvPr id="19" name="Shape 17"/>
          <p:cNvSpPr/>
          <p:nvPr/>
        </p:nvSpPr>
        <p:spPr>
          <a:xfrm>
            <a:off x="8266176" y="2697480"/>
            <a:ext cx="100584" cy="100584"/>
          </a:xfrm>
          <a:prstGeom prst="ellipse">
            <a:avLst/>
          </a:prstGeom>
          <a:solidFill>
            <a:srgbClr val="C9A84C">
              <a:alpha val="35000"/>
            </a:srgbClr>
          </a:solidFill>
          <a:ln w="12700">
            <a:solidFill>
              <a:srgbClr val="C9A84C">
                <a:alpha val="35000"/>
              </a:srgbClr>
            </a:solidFill>
            <a:prstDash val="solid"/>
          </a:ln>
        </p:spPr>
      </p:sp>
      <p:sp>
        <p:nvSpPr>
          <p:cNvPr id="20" name="Shape 18"/>
          <p:cNvSpPr/>
          <p:nvPr/>
        </p:nvSpPr>
        <p:spPr>
          <a:xfrm>
            <a:off x="6675120" y="3520440"/>
            <a:ext cx="100584" cy="100584"/>
          </a:xfrm>
          <a:prstGeom prst="ellipse">
            <a:avLst/>
          </a:prstGeom>
          <a:solidFill>
            <a:srgbClr val="C9A84C">
              <a:alpha val="35000"/>
            </a:srgbClr>
          </a:solidFill>
          <a:ln w="12700">
            <a:solidFill>
              <a:srgbClr val="C9A84C">
                <a:alpha val="35000"/>
              </a:srgbClr>
            </a:solidFill>
            <a:prstDash val="solid"/>
          </a:ln>
        </p:spPr>
      </p:sp>
      <p:sp>
        <p:nvSpPr>
          <p:cNvPr id="21" name="Shape 19"/>
          <p:cNvSpPr/>
          <p:nvPr/>
        </p:nvSpPr>
        <p:spPr>
          <a:xfrm>
            <a:off x="7205472" y="3520440"/>
            <a:ext cx="100584" cy="100584"/>
          </a:xfrm>
          <a:prstGeom prst="ellipse">
            <a:avLst/>
          </a:prstGeom>
          <a:solidFill>
            <a:srgbClr val="C9A84C">
              <a:alpha val="35000"/>
            </a:srgbClr>
          </a:solidFill>
          <a:ln w="12700">
            <a:solidFill>
              <a:srgbClr val="C9A84C">
                <a:alpha val="35000"/>
              </a:srgbClr>
            </a:solidFill>
            <a:prstDash val="solid"/>
          </a:ln>
        </p:spPr>
      </p:sp>
      <p:sp>
        <p:nvSpPr>
          <p:cNvPr id="22" name="Shape 20"/>
          <p:cNvSpPr/>
          <p:nvPr/>
        </p:nvSpPr>
        <p:spPr>
          <a:xfrm>
            <a:off x="7735824" y="3520440"/>
            <a:ext cx="100584" cy="100584"/>
          </a:xfrm>
          <a:prstGeom prst="ellipse">
            <a:avLst/>
          </a:prstGeom>
          <a:solidFill>
            <a:srgbClr val="C9A84C">
              <a:alpha val="35000"/>
            </a:srgbClr>
          </a:solidFill>
          <a:ln w="12700">
            <a:solidFill>
              <a:srgbClr val="C9A84C">
                <a:alpha val="35000"/>
              </a:srgbClr>
            </a:solidFill>
            <a:prstDash val="solid"/>
          </a:ln>
        </p:spPr>
      </p:sp>
      <p:sp>
        <p:nvSpPr>
          <p:cNvPr id="23" name="Shape 21"/>
          <p:cNvSpPr/>
          <p:nvPr/>
        </p:nvSpPr>
        <p:spPr>
          <a:xfrm>
            <a:off x="8266176" y="3520440"/>
            <a:ext cx="100584" cy="100584"/>
          </a:xfrm>
          <a:prstGeom prst="ellipse">
            <a:avLst/>
          </a:prstGeom>
          <a:solidFill>
            <a:srgbClr val="C9A84C">
              <a:alpha val="35000"/>
            </a:srgbClr>
          </a:solidFill>
          <a:ln w="12700">
            <a:solidFill>
              <a:srgbClr val="C9A84C">
                <a:alpha val="35000"/>
              </a:srgbClr>
            </a:solidFill>
            <a:prstDash val="solid"/>
          </a:ln>
        </p:spPr>
      </p:sp>
      <p:sp>
        <p:nvSpPr>
          <p:cNvPr id="24" name="Shape 22"/>
          <p:cNvSpPr/>
          <p:nvPr/>
        </p:nvSpPr>
        <p:spPr>
          <a:xfrm>
            <a:off x="6675120" y="4343400"/>
            <a:ext cx="100584" cy="100584"/>
          </a:xfrm>
          <a:prstGeom prst="ellipse">
            <a:avLst/>
          </a:prstGeom>
          <a:solidFill>
            <a:srgbClr val="C9A84C">
              <a:alpha val="35000"/>
            </a:srgbClr>
          </a:solidFill>
          <a:ln w="12700">
            <a:solidFill>
              <a:srgbClr val="C9A84C">
                <a:alpha val="35000"/>
              </a:srgbClr>
            </a:solidFill>
            <a:prstDash val="solid"/>
          </a:ln>
        </p:spPr>
      </p:sp>
      <p:sp>
        <p:nvSpPr>
          <p:cNvPr id="25" name="Shape 23"/>
          <p:cNvSpPr/>
          <p:nvPr/>
        </p:nvSpPr>
        <p:spPr>
          <a:xfrm>
            <a:off x="7205472" y="4343400"/>
            <a:ext cx="100584" cy="100584"/>
          </a:xfrm>
          <a:prstGeom prst="ellipse">
            <a:avLst/>
          </a:prstGeom>
          <a:solidFill>
            <a:srgbClr val="C9A84C">
              <a:alpha val="35000"/>
            </a:srgbClr>
          </a:solidFill>
          <a:ln w="12700">
            <a:solidFill>
              <a:srgbClr val="C9A84C">
                <a:alpha val="35000"/>
              </a:srgbClr>
            </a:solidFill>
            <a:prstDash val="solid"/>
          </a:ln>
        </p:spPr>
      </p:sp>
      <p:sp>
        <p:nvSpPr>
          <p:cNvPr id="26" name="Shape 24"/>
          <p:cNvSpPr/>
          <p:nvPr/>
        </p:nvSpPr>
        <p:spPr>
          <a:xfrm>
            <a:off x="7735824" y="4343400"/>
            <a:ext cx="100584" cy="100584"/>
          </a:xfrm>
          <a:prstGeom prst="ellipse">
            <a:avLst/>
          </a:prstGeom>
          <a:solidFill>
            <a:srgbClr val="C9A84C">
              <a:alpha val="35000"/>
            </a:srgbClr>
          </a:solidFill>
          <a:ln w="12700">
            <a:solidFill>
              <a:srgbClr val="C9A84C">
                <a:alpha val="35000"/>
              </a:srgbClr>
            </a:solidFill>
            <a:prstDash val="solid"/>
          </a:ln>
        </p:spPr>
      </p:sp>
      <p:sp>
        <p:nvSpPr>
          <p:cNvPr id="27" name="Shape 25"/>
          <p:cNvSpPr/>
          <p:nvPr/>
        </p:nvSpPr>
        <p:spPr>
          <a:xfrm>
            <a:off x="8266176" y="4343400"/>
            <a:ext cx="100584" cy="100584"/>
          </a:xfrm>
          <a:prstGeom prst="ellipse">
            <a:avLst/>
          </a:prstGeom>
          <a:solidFill>
            <a:srgbClr val="C9A84C">
              <a:alpha val="35000"/>
            </a:srgbClr>
          </a:solidFill>
          <a:ln w="12700">
            <a:solidFill>
              <a:srgbClr val="C9A84C">
                <a:alpha val="35000"/>
              </a:srgbClr>
            </a:solidFill>
            <a:prstDash val="solid"/>
          </a:ln>
        </p:spPr>
      </p:sp>
      <p:pic>
        <p:nvPicPr>
          <p:cNvPr id="28" name="Image 0" descr="preencoded.png">    </p:cNvPr>
          <p:cNvPicPr>
            <a:picLocks noChangeAspect="1"/>
          </p:cNvPicPr>
          <p:nvPr/>
        </p:nvPicPr>
        <p:blipFill>
          <a:blip r:embed="rId1"/>
          <a:stretch>
            <a:fillRect/>
          </a:stretch>
        </p:blipFill>
        <p:spPr>
          <a:xfrm>
            <a:off x="6903720" y="1280160"/>
            <a:ext cx="1828800" cy="1828800"/>
          </a:xfrm>
          <a:prstGeom prst="rect">
            <a:avLst/>
          </a:prstGeom>
        </p:spPr>
      </p:pic>
      <p:sp>
        <p:nvSpPr>
          <p:cNvPr id="29" name="Text 26"/>
          <p:cNvSpPr/>
          <p:nvPr/>
        </p:nvSpPr>
        <p:spPr>
          <a:xfrm>
            <a:off x="411480" y="658368"/>
            <a:ext cx="5760720" cy="896112"/>
          </a:xfrm>
          <a:prstGeom prst="rect">
            <a:avLst/>
          </a:prstGeom>
          <a:noFill/>
          <a:ln/>
        </p:spPr>
        <p:txBody>
          <a:bodyPr wrap="square" rtlCol="0" anchor="ctr"/>
          <a:lstStyle/>
          <a:p>
            <a:pPr algn="l" indent="0" marL="0">
              <a:buNone/>
            </a:pPr>
            <a:r>
              <a:rPr lang="en-US" sz="5000" b="1" spc="300" kern="0" dirty="0">
                <a:solidFill>
                  <a:srgbClr val="FFFFFF"/>
                </a:solidFill>
                <a:latin typeface="Calibri" pitchFamily="34" charset="0"/>
                <a:ea typeface="Calibri" pitchFamily="34" charset="-122"/>
                <a:cs typeface="Calibri" pitchFamily="34" charset="-120"/>
              </a:rPr>
              <a:t>HDFC BANK</a:t>
            </a:r>
            <a:endParaRPr lang="en-US" sz="5000" dirty="0"/>
          </a:p>
        </p:txBody>
      </p:sp>
      <p:sp>
        <p:nvSpPr>
          <p:cNvPr id="30" name="Text 27"/>
          <p:cNvSpPr/>
          <p:nvPr/>
        </p:nvSpPr>
        <p:spPr>
          <a:xfrm>
            <a:off x="411480" y="1481328"/>
            <a:ext cx="5760720" cy="457200"/>
          </a:xfrm>
          <a:prstGeom prst="rect">
            <a:avLst/>
          </a:prstGeom>
          <a:noFill/>
          <a:ln/>
        </p:spPr>
        <p:txBody>
          <a:bodyPr wrap="square" rtlCol="0" anchor="ctr"/>
          <a:lstStyle/>
          <a:p>
            <a:pPr algn="l" indent="0" marL="0">
              <a:buNone/>
            </a:pPr>
            <a:r>
              <a:rPr lang="en-US" sz="3000" spc="1000" kern="0" dirty="0">
                <a:solidFill>
                  <a:srgbClr val="C9A84C"/>
                </a:solidFill>
                <a:latin typeface="Calibri" pitchFamily="34" charset="0"/>
                <a:ea typeface="Calibri" pitchFamily="34" charset="-122"/>
                <a:cs typeface="Calibri" pitchFamily="34" charset="-120"/>
              </a:rPr>
              <a:t>LIMITED</a:t>
            </a:r>
            <a:endParaRPr lang="en-US" sz="3000" dirty="0"/>
          </a:p>
        </p:txBody>
      </p:sp>
      <p:sp>
        <p:nvSpPr>
          <p:cNvPr id="31" name="Shape 28"/>
          <p:cNvSpPr/>
          <p:nvPr/>
        </p:nvSpPr>
        <p:spPr>
          <a:xfrm>
            <a:off x="411480" y="2029968"/>
            <a:ext cx="5303520" cy="45720"/>
          </a:xfrm>
          <a:prstGeom prst="rect">
            <a:avLst/>
          </a:prstGeom>
          <a:solidFill>
            <a:srgbClr val="C9A84C"/>
          </a:solidFill>
          <a:ln w="12700">
            <a:solidFill>
              <a:srgbClr val="C9A84C"/>
            </a:solidFill>
            <a:prstDash val="solid"/>
          </a:ln>
        </p:spPr>
      </p:sp>
      <p:sp>
        <p:nvSpPr>
          <p:cNvPr id="32" name="Text 29"/>
          <p:cNvSpPr/>
          <p:nvPr/>
        </p:nvSpPr>
        <p:spPr>
          <a:xfrm>
            <a:off x="411480" y="2148840"/>
            <a:ext cx="5760720" cy="438912"/>
          </a:xfrm>
          <a:prstGeom prst="rect">
            <a:avLst/>
          </a:prstGeom>
          <a:noFill/>
          <a:ln/>
        </p:spPr>
        <p:txBody>
          <a:bodyPr wrap="square" rtlCol="0" anchor="ctr"/>
          <a:lstStyle/>
          <a:p>
            <a:pPr algn="l" indent="0" marL="0">
              <a:buNone/>
            </a:pPr>
            <a:r>
              <a:rPr lang="en-US" sz="1800" dirty="0">
                <a:solidFill>
                  <a:srgbClr val="D6DCE4"/>
                </a:solidFill>
                <a:latin typeface="Calibri" pitchFamily="34" charset="0"/>
                <a:ea typeface="Calibri" pitchFamily="34" charset="-122"/>
                <a:cs typeface="Calibri" pitchFamily="34" charset="-120"/>
              </a:rPr>
              <a:t>Company Overview &amp; Strategic Analysis</a:t>
            </a:r>
            <a:endParaRPr lang="en-US" sz="1800" dirty="0"/>
          </a:p>
        </p:txBody>
      </p:sp>
      <p:sp>
        <p:nvSpPr>
          <p:cNvPr id="33" name="Text 30"/>
          <p:cNvSpPr/>
          <p:nvPr/>
        </p:nvSpPr>
        <p:spPr>
          <a:xfrm>
            <a:off x="411480" y="2651760"/>
            <a:ext cx="5760720" cy="320040"/>
          </a:xfrm>
          <a:prstGeom prst="rect">
            <a:avLst/>
          </a:prstGeom>
          <a:noFill/>
          <a:ln/>
        </p:spPr>
        <p:txBody>
          <a:bodyPr wrap="square" rtlCol="0" anchor="ctr"/>
          <a:lstStyle/>
          <a:p>
            <a:pPr algn="l" indent="0" marL="0">
              <a:buNone/>
            </a:pPr>
            <a:r>
              <a:rPr lang="en-US" sz="1100" dirty="0">
                <a:solidFill>
                  <a:srgbClr val="8899BB"/>
                </a:solidFill>
                <a:latin typeface="Calibri" pitchFamily="34" charset="0"/>
                <a:ea typeface="Calibri" pitchFamily="34" charset="-122"/>
                <a:cs typeface="Calibri" pitchFamily="34" charset="-120"/>
              </a:rPr>
              <a:t>Equity Research Report  ·  March 2025  ·  NSE: HDFCBANK  ·  BSE: 500180</a:t>
            </a:r>
            <a:endParaRPr lang="en-US" sz="1100" dirty="0"/>
          </a:p>
        </p:txBody>
      </p:sp>
      <p:sp>
        <p:nvSpPr>
          <p:cNvPr id="34" name="Shape 31"/>
          <p:cNvSpPr/>
          <p:nvPr/>
        </p:nvSpPr>
        <p:spPr>
          <a:xfrm>
            <a:off x="411480" y="3154680"/>
            <a:ext cx="1298448" cy="384048"/>
          </a:xfrm>
          <a:prstGeom prst="rect">
            <a:avLst/>
          </a:prstGeom>
          <a:solidFill>
            <a:srgbClr val="4472C4"/>
          </a:solidFill>
          <a:ln w="12700">
            <a:solidFill>
              <a:srgbClr val="4472C4"/>
            </a:solidFill>
            <a:prstDash val="solid"/>
          </a:ln>
        </p:spPr>
      </p:sp>
      <p:sp>
        <p:nvSpPr>
          <p:cNvPr id="35" name="Text 32"/>
          <p:cNvSpPr/>
          <p:nvPr/>
        </p:nvSpPr>
        <p:spPr>
          <a:xfrm>
            <a:off x="411480" y="3154680"/>
            <a:ext cx="1298448"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Est. 1994</a:t>
            </a:r>
            <a:endParaRPr lang="en-US" sz="1000" dirty="0"/>
          </a:p>
        </p:txBody>
      </p:sp>
      <p:sp>
        <p:nvSpPr>
          <p:cNvPr id="36" name="Shape 33"/>
          <p:cNvSpPr/>
          <p:nvPr/>
        </p:nvSpPr>
        <p:spPr>
          <a:xfrm>
            <a:off x="1828800" y="3154680"/>
            <a:ext cx="1298448" cy="384048"/>
          </a:xfrm>
          <a:prstGeom prst="rect">
            <a:avLst/>
          </a:prstGeom>
          <a:solidFill>
            <a:srgbClr val="2E4A8A"/>
          </a:solidFill>
          <a:ln w="12700">
            <a:solidFill>
              <a:srgbClr val="2E4A8A"/>
            </a:solidFill>
            <a:prstDash val="solid"/>
          </a:ln>
        </p:spPr>
      </p:sp>
      <p:sp>
        <p:nvSpPr>
          <p:cNvPr id="37" name="Text 34"/>
          <p:cNvSpPr/>
          <p:nvPr/>
        </p:nvSpPr>
        <p:spPr>
          <a:xfrm>
            <a:off x="1828800" y="3154680"/>
            <a:ext cx="1298448"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Private Sector</a:t>
            </a:r>
            <a:endParaRPr lang="en-US" sz="1000" dirty="0"/>
          </a:p>
        </p:txBody>
      </p:sp>
      <p:sp>
        <p:nvSpPr>
          <p:cNvPr id="38" name="Shape 35"/>
          <p:cNvSpPr/>
          <p:nvPr/>
        </p:nvSpPr>
        <p:spPr>
          <a:xfrm>
            <a:off x="3246120" y="3154680"/>
            <a:ext cx="1298448" cy="384048"/>
          </a:xfrm>
          <a:prstGeom prst="rect">
            <a:avLst/>
          </a:prstGeom>
          <a:solidFill>
            <a:srgbClr val="4472C4"/>
          </a:solidFill>
          <a:ln w="12700">
            <a:solidFill>
              <a:srgbClr val="4472C4"/>
            </a:solidFill>
            <a:prstDash val="solid"/>
          </a:ln>
        </p:spPr>
      </p:sp>
      <p:sp>
        <p:nvSpPr>
          <p:cNvPr id="39" name="Text 36"/>
          <p:cNvSpPr/>
          <p:nvPr/>
        </p:nvSpPr>
        <p:spPr>
          <a:xfrm>
            <a:off x="3246120" y="3154680"/>
            <a:ext cx="1298448"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AAA Rated</a:t>
            </a:r>
            <a:endParaRPr lang="en-US" sz="1000" dirty="0"/>
          </a:p>
        </p:txBody>
      </p:sp>
      <p:sp>
        <p:nvSpPr>
          <p:cNvPr id="40" name="Shape 37"/>
          <p:cNvSpPr/>
          <p:nvPr/>
        </p:nvSpPr>
        <p:spPr>
          <a:xfrm>
            <a:off x="4663440" y="3154680"/>
            <a:ext cx="1298448" cy="384048"/>
          </a:xfrm>
          <a:prstGeom prst="rect">
            <a:avLst/>
          </a:prstGeom>
          <a:solidFill>
            <a:srgbClr val="2E4A8A"/>
          </a:solidFill>
          <a:ln w="12700">
            <a:solidFill>
              <a:srgbClr val="2E4A8A"/>
            </a:solidFill>
            <a:prstDash val="solid"/>
          </a:ln>
        </p:spPr>
      </p:sp>
      <p:sp>
        <p:nvSpPr>
          <p:cNvPr id="41" name="Text 38"/>
          <p:cNvSpPr/>
          <p:nvPr/>
        </p:nvSpPr>
        <p:spPr>
          <a:xfrm>
            <a:off x="4663440" y="3154680"/>
            <a:ext cx="1298448"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₹35L Cr Assets</a:t>
            </a:r>
            <a:endParaRPr lang="en-US" sz="1000" dirty="0"/>
          </a:p>
        </p:txBody>
      </p:sp>
      <p:sp>
        <p:nvSpPr>
          <p:cNvPr id="42" name="Text 39"/>
          <p:cNvSpPr/>
          <p:nvPr/>
        </p:nvSpPr>
        <p:spPr>
          <a:xfrm>
            <a:off x="411480" y="4828032"/>
            <a:ext cx="8321040" cy="228600"/>
          </a:xfrm>
          <a:prstGeom prst="rect">
            <a:avLst/>
          </a:prstGeom>
          <a:noFill/>
          <a:ln/>
        </p:spPr>
        <p:txBody>
          <a:bodyPr wrap="square" rtlCol="0" anchor="ctr"/>
          <a:lstStyle/>
          <a:p>
            <a:pPr algn="l" indent="0" marL="0">
              <a:buNone/>
            </a:pPr>
            <a:r>
              <a:rPr lang="en-US" sz="900" dirty="0">
                <a:solidFill>
                  <a:srgbClr val="667799"/>
                </a:solidFill>
                <a:latin typeface="Calibri" pitchFamily="34" charset="0"/>
                <a:ea typeface="Calibri" pitchFamily="34" charset="-122"/>
                <a:cs typeface="Calibri" pitchFamily="34" charset="-120"/>
              </a:rPr>
              <a:t>This report is for informational purposes only. Not investment advice.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F3864"/>
          </a:solidFill>
          <a:ln w="12700">
            <a:solidFill>
              <a:srgbClr val="1F3864"/>
            </a:solidFill>
            <a:prstDash val="solid"/>
          </a:ln>
        </p:spPr>
      </p:sp>
      <p:sp>
        <p:nvSpPr>
          <p:cNvPr id="3" name="Shape 1"/>
          <p:cNvSpPr/>
          <p:nvPr/>
        </p:nvSpPr>
        <p:spPr>
          <a:xfrm>
            <a:off x="0" y="1024128"/>
            <a:ext cx="9144000" cy="64008"/>
          </a:xfrm>
          <a:prstGeom prst="rect">
            <a:avLst/>
          </a:prstGeom>
          <a:solidFill>
            <a:srgbClr val="C9A84C"/>
          </a:solidFill>
          <a:ln w="12700">
            <a:solidFill>
              <a:srgbClr val="C9A84C"/>
            </a:solidFill>
            <a:prstDash val="solid"/>
          </a:ln>
        </p:spPr>
      </p:sp>
      <p:sp>
        <p:nvSpPr>
          <p:cNvPr id="4" name="Text 2"/>
          <p:cNvSpPr/>
          <p:nvPr/>
        </p:nvSpPr>
        <p:spPr>
          <a:xfrm>
            <a:off x="411480" y="54864"/>
            <a:ext cx="8321040" cy="530352"/>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EXECUTIVE OVERVIEW</a:t>
            </a:r>
            <a:endParaRPr lang="en-US" sz="2800" dirty="0"/>
          </a:p>
        </p:txBody>
      </p:sp>
      <p:sp>
        <p:nvSpPr>
          <p:cNvPr id="5" name="Text 3"/>
          <p:cNvSpPr/>
          <p:nvPr/>
        </p:nvSpPr>
        <p:spPr>
          <a:xfrm>
            <a:off x="411480" y="603504"/>
            <a:ext cx="8321040" cy="347472"/>
          </a:xfrm>
          <a:prstGeom prst="rect">
            <a:avLst/>
          </a:prstGeom>
          <a:noFill/>
          <a:ln/>
        </p:spPr>
        <p:txBody>
          <a:bodyPr wrap="square" rtlCol="0" anchor="ctr"/>
          <a:lstStyle/>
          <a:p>
            <a:pPr algn="l" indent="0" marL="0">
              <a:buNone/>
            </a:pPr>
            <a:r>
              <a:rPr lang="en-US" sz="1200" dirty="0">
                <a:solidFill>
                  <a:srgbClr val="D6DCE4"/>
                </a:solidFill>
                <a:latin typeface="Calibri" pitchFamily="34" charset="0"/>
                <a:ea typeface="Calibri" pitchFamily="34" charset="-122"/>
                <a:cs typeface="Calibri" pitchFamily="34" charset="-120"/>
              </a:rPr>
              <a:t>Who is HDFC Bank — The full story at a glance</a:t>
            </a:r>
            <a:endParaRPr lang="en-US" sz="1200" dirty="0"/>
          </a:p>
        </p:txBody>
      </p:sp>
      <p:sp>
        <p:nvSpPr>
          <p:cNvPr id="6" name="Shape 4"/>
          <p:cNvSpPr/>
          <p:nvPr/>
        </p:nvSpPr>
        <p:spPr>
          <a:xfrm>
            <a:off x="274320" y="1188720"/>
            <a:ext cx="5394960" cy="3657600"/>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74320" y="1188720"/>
            <a:ext cx="5394960" cy="475488"/>
          </a:xfrm>
          <a:prstGeom prst="rect">
            <a:avLst/>
          </a:prstGeom>
          <a:solidFill>
            <a:srgbClr val="2E4A8A"/>
          </a:solidFill>
          <a:ln w="12700">
            <a:solidFill>
              <a:srgbClr val="2E4A8A"/>
            </a:solidFill>
            <a:prstDash val="solid"/>
          </a:ln>
        </p:spPr>
      </p:sp>
      <p:sp>
        <p:nvSpPr>
          <p:cNvPr id="8" name="Text 6"/>
          <p:cNvSpPr/>
          <p:nvPr/>
        </p:nvSpPr>
        <p:spPr>
          <a:xfrm>
            <a:off x="411480" y="1216152"/>
            <a:ext cx="512064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About HDFC Bank Ltd.</a:t>
            </a:r>
            <a:endParaRPr lang="en-US" sz="1300" dirty="0"/>
          </a:p>
        </p:txBody>
      </p:sp>
      <p:sp>
        <p:nvSpPr>
          <p:cNvPr id="9" name="Text 7"/>
          <p:cNvSpPr/>
          <p:nvPr/>
        </p:nvSpPr>
        <p:spPr>
          <a:xfrm>
            <a:off x="411480" y="1719072"/>
            <a:ext cx="5120640" cy="2999232"/>
          </a:xfrm>
          <a:prstGeom prst="rect">
            <a:avLst/>
          </a:prstGeom>
          <a:noFill/>
          <a:ln/>
        </p:spPr>
        <p:txBody>
          <a:bodyPr wrap="square" rtlCol="0" anchor="t"/>
          <a:lstStyle/>
          <a:p>
            <a:pPr algn="l" indent="0" marL="0">
              <a:spcAft>
                <a:spcPts val="900"/>
              </a:spcAft>
              <a:buNone/>
            </a:pPr>
            <a:r>
              <a:rPr lang="en-US" sz="1150" dirty="0">
                <a:solidFill>
                  <a:srgbClr val="374151"/>
                </a:solidFill>
                <a:latin typeface="Calibri" pitchFamily="34" charset="0"/>
                <a:ea typeface="Calibri" pitchFamily="34" charset="-122"/>
                <a:cs typeface="Calibri" pitchFamily="34" charset="-120"/>
              </a:rPr>
              <a:t>HDFC Bank Ltd. is one of India's largest private sector banks and a key participant in the country's financial services industry. Established in 1994 and headquartered in Mumbai, the bank has developed a strong reputation for consistent growth, superior asset quality, and robust profitability.</a:t>
            </a:r>
            <a:endParaRPr lang="en-US" sz="1150" dirty="0"/>
          </a:p>
          <a:p>
            <a:pPr algn="l" indent="0" marL="0">
              <a:spcAft>
                <a:spcPts val="900"/>
              </a:spcAft>
              <a:buNone/>
            </a:pPr>
            <a:endParaRPr lang="en-US" sz="1150" dirty="0"/>
          </a:p>
          <a:p>
            <a:pPr algn="l" indent="0" marL="0">
              <a:spcAft>
                <a:spcPts val="900"/>
              </a:spcAft>
              <a:buNone/>
            </a:pPr>
            <a:r>
              <a:rPr lang="en-US" sz="1150" dirty="0">
                <a:solidFill>
                  <a:srgbClr val="374151"/>
                </a:solidFill>
                <a:latin typeface="Calibri" pitchFamily="34" charset="0"/>
                <a:ea typeface="Calibri" pitchFamily="34" charset="-122"/>
                <a:cs typeface="Calibri" pitchFamily="34" charset="-120"/>
              </a:rPr>
              <a:t>Over the past two decades, HDFC Bank has built a diversified banking franchise with a balanced mix of retail and corporate lending, supported by a large and stable deposit base. Its strong focus on technology, customer service, and disciplined risk management has enabled it to maintain industry-leading performance across several financial metrics.</a:t>
            </a:r>
            <a:endParaRPr lang="en-US" sz="1150" dirty="0"/>
          </a:p>
          <a:p>
            <a:pPr algn="l" indent="0" marL="0">
              <a:spcAft>
                <a:spcPts val="900"/>
              </a:spcAft>
              <a:buNone/>
            </a:pPr>
            <a:endParaRPr lang="en-US" sz="1150" dirty="0"/>
          </a:p>
          <a:p>
            <a:pPr algn="l" indent="0" marL="0">
              <a:spcAft>
                <a:spcPts val="900"/>
              </a:spcAft>
              <a:buNone/>
            </a:pPr>
            <a:r>
              <a:rPr lang="en-US" sz="1150" dirty="0">
                <a:solidFill>
                  <a:srgbClr val="374151"/>
                </a:solidFill>
                <a:latin typeface="Calibri" pitchFamily="34" charset="0"/>
                <a:ea typeface="Calibri" pitchFamily="34" charset="-122"/>
                <a:cs typeface="Calibri" pitchFamily="34" charset="-120"/>
              </a:rPr>
              <a:t>The bank operates through multiple business segments including retail banking, wholesale banking, treasury operations, and digital financial services — each contributing meaningfully to overall profitability and balance sheet growth.</a:t>
            </a:r>
            <a:endParaRPr lang="en-US" sz="1150" dirty="0"/>
          </a:p>
        </p:txBody>
      </p:sp>
      <p:sp>
        <p:nvSpPr>
          <p:cNvPr id="10" name="Shape 8"/>
          <p:cNvSpPr/>
          <p:nvPr/>
        </p:nvSpPr>
        <p:spPr>
          <a:xfrm>
            <a:off x="5897880" y="1207008"/>
            <a:ext cx="1517904" cy="1078992"/>
          </a:xfrm>
          <a:prstGeom prst="rect">
            <a:avLst/>
          </a:prstGeom>
          <a:solidFill>
            <a:srgbClr val="1F3864"/>
          </a:solidFill>
          <a:ln w="12700">
            <a:solidFill>
              <a:srgbClr val="1F3864"/>
            </a:solidFill>
            <a:prstDash val="solid"/>
          </a:ln>
          <a:effectLst>
            <a:outerShdw sx="100000" sy="100000" kx="0" ky="0" algn="bl" rotWithShape="0" blurRad="101600" dist="38100" dir="8100000">
              <a:srgbClr val="000000">
                <a:alpha val="10000"/>
              </a:srgbClr>
            </a:outerShdw>
          </a:effectLst>
        </p:spPr>
      </p:sp>
      <p:pic>
        <p:nvPicPr>
          <p:cNvPr id="11" name="Image 0" descr="preencoded.png">    </p:cNvPr>
          <p:cNvPicPr>
            <a:picLocks noChangeAspect="1"/>
          </p:cNvPicPr>
          <p:nvPr/>
        </p:nvPicPr>
        <p:blipFill>
          <a:blip r:embed="rId1"/>
          <a:stretch>
            <a:fillRect/>
          </a:stretch>
        </p:blipFill>
        <p:spPr>
          <a:xfrm>
            <a:off x="5989320" y="1298448"/>
            <a:ext cx="292608" cy="292608"/>
          </a:xfrm>
          <a:prstGeom prst="rect">
            <a:avLst/>
          </a:prstGeom>
        </p:spPr>
      </p:pic>
      <p:sp>
        <p:nvSpPr>
          <p:cNvPr id="12" name="Text 9"/>
          <p:cNvSpPr/>
          <p:nvPr/>
        </p:nvSpPr>
        <p:spPr>
          <a:xfrm>
            <a:off x="5934456" y="1627632"/>
            <a:ext cx="1444752" cy="256032"/>
          </a:xfrm>
          <a:prstGeom prst="rect">
            <a:avLst/>
          </a:prstGeom>
          <a:noFill/>
          <a:ln/>
        </p:spPr>
        <p:txBody>
          <a:bodyPr wrap="square" rtlCol="0" anchor="ctr"/>
          <a:lstStyle/>
          <a:p>
            <a:pPr algn="ctr" indent="0" marL="0">
              <a:buNone/>
            </a:pPr>
            <a:r>
              <a:rPr lang="en-US" sz="900" dirty="0">
                <a:solidFill>
                  <a:srgbClr val="D6DCE4"/>
                </a:solidFill>
                <a:latin typeface="Calibri" pitchFamily="34" charset="0"/>
                <a:ea typeface="Calibri" pitchFamily="34" charset="-122"/>
                <a:cs typeface="Calibri" pitchFamily="34" charset="-120"/>
              </a:rPr>
              <a:t>Founded</a:t>
            </a:r>
            <a:endParaRPr lang="en-US" sz="900" dirty="0"/>
          </a:p>
        </p:txBody>
      </p:sp>
      <p:sp>
        <p:nvSpPr>
          <p:cNvPr id="13" name="Text 10"/>
          <p:cNvSpPr/>
          <p:nvPr/>
        </p:nvSpPr>
        <p:spPr>
          <a:xfrm>
            <a:off x="5934456" y="1865376"/>
            <a:ext cx="1444752" cy="329184"/>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1994</a:t>
            </a:r>
            <a:endParaRPr lang="en-US" sz="1150" dirty="0"/>
          </a:p>
        </p:txBody>
      </p:sp>
      <p:sp>
        <p:nvSpPr>
          <p:cNvPr id="14" name="Shape 11"/>
          <p:cNvSpPr/>
          <p:nvPr/>
        </p:nvSpPr>
        <p:spPr>
          <a:xfrm>
            <a:off x="7543800" y="1207008"/>
            <a:ext cx="1517904" cy="1078992"/>
          </a:xfrm>
          <a:prstGeom prst="rect">
            <a:avLst/>
          </a:prstGeom>
          <a:solidFill>
            <a:srgbClr val="2E4A8A"/>
          </a:solidFill>
          <a:ln w="12700">
            <a:solidFill>
              <a:srgbClr val="2E4A8A"/>
            </a:solidFill>
            <a:prstDash val="solid"/>
          </a:ln>
          <a:effectLst>
            <a:outerShdw sx="100000" sy="100000" kx="0" ky="0" algn="bl" rotWithShape="0" blurRad="101600" dist="38100" dir="8100000">
              <a:srgbClr val="000000">
                <a:alpha val="10000"/>
              </a:srgbClr>
            </a:outerShdw>
          </a:effectLst>
        </p:spPr>
      </p:sp>
      <p:pic>
        <p:nvPicPr>
          <p:cNvPr id="15" name="Image 1" descr="preencoded.png">    </p:cNvPr>
          <p:cNvPicPr>
            <a:picLocks noChangeAspect="1"/>
          </p:cNvPicPr>
          <p:nvPr/>
        </p:nvPicPr>
        <p:blipFill>
          <a:blip r:embed="rId2"/>
          <a:stretch>
            <a:fillRect/>
          </a:stretch>
        </p:blipFill>
        <p:spPr>
          <a:xfrm>
            <a:off x="7635240" y="1298448"/>
            <a:ext cx="292608" cy="292608"/>
          </a:xfrm>
          <a:prstGeom prst="rect">
            <a:avLst/>
          </a:prstGeom>
        </p:spPr>
      </p:pic>
      <p:sp>
        <p:nvSpPr>
          <p:cNvPr id="16" name="Text 12"/>
          <p:cNvSpPr/>
          <p:nvPr/>
        </p:nvSpPr>
        <p:spPr>
          <a:xfrm>
            <a:off x="7580376" y="1627632"/>
            <a:ext cx="1444752" cy="256032"/>
          </a:xfrm>
          <a:prstGeom prst="rect">
            <a:avLst/>
          </a:prstGeom>
          <a:noFill/>
          <a:ln/>
        </p:spPr>
        <p:txBody>
          <a:bodyPr wrap="square" rtlCol="0" anchor="ctr"/>
          <a:lstStyle/>
          <a:p>
            <a:pPr algn="ctr" indent="0" marL="0">
              <a:buNone/>
            </a:pPr>
            <a:r>
              <a:rPr lang="en-US" sz="900" dirty="0">
                <a:solidFill>
                  <a:srgbClr val="D6DCE4"/>
                </a:solidFill>
                <a:latin typeface="Calibri" pitchFamily="34" charset="0"/>
                <a:ea typeface="Calibri" pitchFamily="34" charset="-122"/>
                <a:cs typeface="Calibri" pitchFamily="34" charset="-120"/>
              </a:rPr>
              <a:t>Headquarters</a:t>
            </a:r>
            <a:endParaRPr lang="en-US" sz="900" dirty="0"/>
          </a:p>
        </p:txBody>
      </p:sp>
      <p:sp>
        <p:nvSpPr>
          <p:cNvPr id="17" name="Text 13"/>
          <p:cNvSpPr/>
          <p:nvPr/>
        </p:nvSpPr>
        <p:spPr>
          <a:xfrm>
            <a:off x="7580376" y="1865376"/>
            <a:ext cx="1444752" cy="329184"/>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Mumbai, India</a:t>
            </a:r>
            <a:endParaRPr lang="en-US" sz="1150" dirty="0"/>
          </a:p>
        </p:txBody>
      </p:sp>
      <p:sp>
        <p:nvSpPr>
          <p:cNvPr id="18" name="Shape 14"/>
          <p:cNvSpPr/>
          <p:nvPr/>
        </p:nvSpPr>
        <p:spPr>
          <a:xfrm>
            <a:off x="5897880" y="2450592"/>
            <a:ext cx="1517904" cy="1078992"/>
          </a:xfrm>
          <a:prstGeom prst="rect">
            <a:avLst/>
          </a:prstGeom>
          <a:solidFill>
            <a:srgbClr val="4472C4"/>
          </a:solidFill>
          <a:ln w="12700">
            <a:solidFill>
              <a:srgbClr val="4472C4"/>
            </a:solidFill>
            <a:prstDash val="solid"/>
          </a:ln>
          <a:effectLst>
            <a:outerShdw sx="100000" sy="100000" kx="0" ky="0" algn="bl" rotWithShape="0" blurRad="101600" dist="38100" dir="8100000">
              <a:srgbClr val="000000">
                <a:alpha val="10000"/>
              </a:srgbClr>
            </a:outerShdw>
          </a:effectLst>
        </p:spPr>
      </p:sp>
      <p:pic>
        <p:nvPicPr>
          <p:cNvPr id="19" name="Image 2" descr="preencoded.png">    </p:cNvPr>
          <p:cNvPicPr>
            <a:picLocks noChangeAspect="1"/>
          </p:cNvPicPr>
          <p:nvPr/>
        </p:nvPicPr>
        <p:blipFill>
          <a:blip r:embed="rId3"/>
          <a:stretch>
            <a:fillRect/>
          </a:stretch>
        </p:blipFill>
        <p:spPr>
          <a:xfrm>
            <a:off x="5989320" y="2542032"/>
            <a:ext cx="292608" cy="292608"/>
          </a:xfrm>
          <a:prstGeom prst="rect">
            <a:avLst/>
          </a:prstGeom>
        </p:spPr>
      </p:pic>
      <p:sp>
        <p:nvSpPr>
          <p:cNvPr id="20" name="Text 15"/>
          <p:cNvSpPr/>
          <p:nvPr/>
        </p:nvSpPr>
        <p:spPr>
          <a:xfrm>
            <a:off x="5934456" y="2871216"/>
            <a:ext cx="1444752" cy="256032"/>
          </a:xfrm>
          <a:prstGeom prst="rect">
            <a:avLst/>
          </a:prstGeom>
          <a:noFill/>
          <a:ln/>
        </p:spPr>
        <p:txBody>
          <a:bodyPr wrap="square" rtlCol="0" anchor="ctr"/>
          <a:lstStyle/>
          <a:p>
            <a:pPr algn="ctr" indent="0" marL="0">
              <a:buNone/>
            </a:pPr>
            <a:r>
              <a:rPr lang="en-US" sz="900" dirty="0">
                <a:solidFill>
                  <a:srgbClr val="D6DCE4"/>
                </a:solidFill>
                <a:latin typeface="Calibri" pitchFamily="34" charset="0"/>
                <a:ea typeface="Calibri" pitchFamily="34" charset="-122"/>
                <a:cs typeface="Calibri" pitchFamily="34" charset="-120"/>
              </a:rPr>
              <a:t>Employees</a:t>
            </a:r>
            <a:endParaRPr lang="en-US" sz="900" dirty="0"/>
          </a:p>
        </p:txBody>
      </p:sp>
      <p:sp>
        <p:nvSpPr>
          <p:cNvPr id="21" name="Text 16"/>
          <p:cNvSpPr/>
          <p:nvPr/>
        </p:nvSpPr>
        <p:spPr>
          <a:xfrm>
            <a:off x="5934456" y="3108960"/>
            <a:ext cx="1444752" cy="329184"/>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2,00,000+</a:t>
            </a:r>
            <a:endParaRPr lang="en-US" sz="1150" dirty="0"/>
          </a:p>
        </p:txBody>
      </p:sp>
      <p:sp>
        <p:nvSpPr>
          <p:cNvPr id="22" name="Shape 17"/>
          <p:cNvSpPr/>
          <p:nvPr/>
        </p:nvSpPr>
        <p:spPr>
          <a:xfrm>
            <a:off x="7543800" y="2450592"/>
            <a:ext cx="1517904" cy="1078992"/>
          </a:xfrm>
          <a:prstGeom prst="rect">
            <a:avLst/>
          </a:prstGeom>
          <a:solidFill>
            <a:srgbClr val="1F3864"/>
          </a:solidFill>
          <a:ln w="12700">
            <a:solidFill>
              <a:srgbClr val="1F3864"/>
            </a:solidFill>
            <a:prstDash val="solid"/>
          </a:ln>
          <a:effectLst>
            <a:outerShdw sx="100000" sy="100000" kx="0" ky="0" algn="bl" rotWithShape="0" blurRad="101600" dist="38100" dir="8100000">
              <a:srgbClr val="000000">
                <a:alpha val="10000"/>
              </a:srgbClr>
            </a:outerShdw>
          </a:effectLst>
        </p:spPr>
      </p:sp>
      <p:pic>
        <p:nvPicPr>
          <p:cNvPr id="23" name="Image 3" descr="preencoded.png">    </p:cNvPr>
          <p:cNvPicPr>
            <a:picLocks noChangeAspect="1"/>
          </p:cNvPicPr>
          <p:nvPr/>
        </p:nvPicPr>
        <p:blipFill>
          <a:blip r:embed="rId4"/>
          <a:stretch>
            <a:fillRect/>
          </a:stretch>
        </p:blipFill>
        <p:spPr>
          <a:xfrm>
            <a:off x="7635240" y="2542032"/>
            <a:ext cx="292608" cy="292608"/>
          </a:xfrm>
          <a:prstGeom prst="rect">
            <a:avLst/>
          </a:prstGeom>
        </p:spPr>
      </p:pic>
      <p:sp>
        <p:nvSpPr>
          <p:cNvPr id="24" name="Text 18"/>
          <p:cNvSpPr/>
          <p:nvPr/>
        </p:nvSpPr>
        <p:spPr>
          <a:xfrm>
            <a:off x="7580376" y="2871216"/>
            <a:ext cx="1444752" cy="256032"/>
          </a:xfrm>
          <a:prstGeom prst="rect">
            <a:avLst/>
          </a:prstGeom>
          <a:noFill/>
          <a:ln/>
        </p:spPr>
        <p:txBody>
          <a:bodyPr wrap="square" rtlCol="0" anchor="ctr"/>
          <a:lstStyle/>
          <a:p>
            <a:pPr algn="ctr" indent="0" marL="0">
              <a:buNone/>
            </a:pPr>
            <a:r>
              <a:rPr lang="en-US" sz="900" dirty="0">
                <a:solidFill>
                  <a:srgbClr val="D6DCE4"/>
                </a:solidFill>
                <a:latin typeface="Calibri" pitchFamily="34" charset="0"/>
                <a:ea typeface="Calibri" pitchFamily="34" charset="-122"/>
                <a:cs typeface="Calibri" pitchFamily="34" charset="-120"/>
              </a:rPr>
              <a:t>Branches</a:t>
            </a:r>
            <a:endParaRPr lang="en-US" sz="900" dirty="0"/>
          </a:p>
        </p:txBody>
      </p:sp>
      <p:sp>
        <p:nvSpPr>
          <p:cNvPr id="25" name="Text 19"/>
          <p:cNvSpPr/>
          <p:nvPr/>
        </p:nvSpPr>
        <p:spPr>
          <a:xfrm>
            <a:off x="7580376" y="3108960"/>
            <a:ext cx="1444752" cy="329184"/>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8,700+</a:t>
            </a:r>
            <a:endParaRPr lang="en-US" sz="1150" dirty="0"/>
          </a:p>
        </p:txBody>
      </p:sp>
      <p:sp>
        <p:nvSpPr>
          <p:cNvPr id="26" name="Shape 20"/>
          <p:cNvSpPr/>
          <p:nvPr/>
        </p:nvSpPr>
        <p:spPr>
          <a:xfrm>
            <a:off x="5897880" y="3694176"/>
            <a:ext cx="1517904" cy="1078992"/>
          </a:xfrm>
          <a:prstGeom prst="rect">
            <a:avLst/>
          </a:prstGeom>
          <a:solidFill>
            <a:srgbClr val="2E4A8A"/>
          </a:solidFill>
          <a:ln w="12700">
            <a:solidFill>
              <a:srgbClr val="2E4A8A"/>
            </a:solidFill>
            <a:prstDash val="solid"/>
          </a:ln>
          <a:effectLst>
            <a:outerShdw sx="100000" sy="100000" kx="0" ky="0" algn="bl" rotWithShape="0" blurRad="101600" dist="38100" dir="8100000">
              <a:srgbClr val="000000">
                <a:alpha val="10000"/>
              </a:srgbClr>
            </a:outerShdw>
          </a:effectLst>
        </p:spPr>
      </p:sp>
      <p:pic>
        <p:nvPicPr>
          <p:cNvPr id="27" name="Image 4" descr="preencoded.png">    </p:cNvPr>
          <p:cNvPicPr>
            <a:picLocks noChangeAspect="1"/>
          </p:cNvPicPr>
          <p:nvPr/>
        </p:nvPicPr>
        <p:blipFill>
          <a:blip r:embed="rId5"/>
          <a:stretch>
            <a:fillRect/>
          </a:stretch>
        </p:blipFill>
        <p:spPr>
          <a:xfrm>
            <a:off x="5989320" y="3785616"/>
            <a:ext cx="292608" cy="292608"/>
          </a:xfrm>
          <a:prstGeom prst="rect">
            <a:avLst/>
          </a:prstGeom>
        </p:spPr>
      </p:pic>
      <p:sp>
        <p:nvSpPr>
          <p:cNvPr id="28" name="Text 21"/>
          <p:cNvSpPr/>
          <p:nvPr/>
        </p:nvSpPr>
        <p:spPr>
          <a:xfrm>
            <a:off x="5934456" y="4114800"/>
            <a:ext cx="1444752" cy="256032"/>
          </a:xfrm>
          <a:prstGeom prst="rect">
            <a:avLst/>
          </a:prstGeom>
          <a:noFill/>
          <a:ln/>
        </p:spPr>
        <p:txBody>
          <a:bodyPr wrap="square" rtlCol="0" anchor="ctr"/>
          <a:lstStyle/>
          <a:p>
            <a:pPr algn="ctr" indent="0" marL="0">
              <a:buNone/>
            </a:pPr>
            <a:r>
              <a:rPr lang="en-US" sz="900" dirty="0">
                <a:solidFill>
                  <a:srgbClr val="D6DCE4"/>
                </a:solidFill>
                <a:latin typeface="Calibri" pitchFamily="34" charset="0"/>
                <a:ea typeface="Calibri" pitchFamily="34" charset="-122"/>
                <a:cs typeface="Calibri" pitchFamily="34" charset="-120"/>
              </a:rPr>
              <a:t>ATMs / CDMs</a:t>
            </a:r>
            <a:endParaRPr lang="en-US" sz="900" dirty="0"/>
          </a:p>
        </p:txBody>
      </p:sp>
      <p:sp>
        <p:nvSpPr>
          <p:cNvPr id="29" name="Text 22"/>
          <p:cNvSpPr/>
          <p:nvPr/>
        </p:nvSpPr>
        <p:spPr>
          <a:xfrm>
            <a:off x="5934456" y="4352544"/>
            <a:ext cx="1444752" cy="329184"/>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20,000+</a:t>
            </a:r>
            <a:endParaRPr lang="en-US" sz="1150" dirty="0"/>
          </a:p>
        </p:txBody>
      </p:sp>
      <p:sp>
        <p:nvSpPr>
          <p:cNvPr id="30" name="Shape 23"/>
          <p:cNvSpPr/>
          <p:nvPr/>
        </p:nvSpPr>
        <p:spPr>
          <a:xfrm>
            <a:off x="7543800" y="3694176"/>
            <a:ext cx="1517904" cy="1078992"/>
          </a:xfrm>
          <a:prstGeom prst="rect">
            <a:avLst/>
          </a:prstGeom>
          <a:solidFill>
            <a:srgbClr val="4472C4"/>
          </a:solidFill>
          <a:ln w="12700">
            <a:solidFill>
              <a:srgbClr val="4472C4"/>
            </a:solidFill>
            <a:prstDash val="solid"/>
          </a:ln>
          <a:effectLst>
            <a:outerShdw sx="100000" sy="100000" kx="0" ky="0" algn="bl" rotWithShape="0" blurRad="101600" dist="38100" dir="8100000">
              <a:srgbClr val="000000">
                <a:alpha val="10000"/>
              </a:srgbClr>
            </a:outerShdw>
          </a:effectLst>
        </p:spPr>
      </p:sp>
      <p:pic>
        <p:nvPicPr>
          <p:cNvPr id="31" name="Image 5" descr="preencoded.png">    </p:cNvPr>
          <p:cNvPicPr>
            <a:picLocks noChangeAspect="1"/>
          </p:cNvPicPr>
          <p:nvPr/>
        </p:nvPicPr>
        <p:blipFill>
          <a:blip r:embed="rId6"/>
          <a:stretch>
            <a:fillRect/>
          </a:stretch>
        </p:blipFill>
        <p:spPr>
          <a:xfrm>
            <a:off x="7635240" y="3785616"/>
            <a:ext cx="292608" cy="292608"/>
          </a:xfrm>
          <a:prstGeom prst="rect">
            <a:avLst/>
          </a:prstGeom>
        </p:spPr>
      </p:pic>
      <p:sp>
        <p:nvSpPr>
          <p:cNvPr id="32" name="Text 24"/>
          <p:cNvSpPr/>
          <p:nvPr/>
        </p:nvSpPr>
        <p:spPr>
          <a:xfrm>
            <a:off x="7580376" y="4114800"/>
            <a:ext cx="1444752" cy="256032"/>
          </a:xfrm>
          <a:prstGeom prst="rect">
            <a:avLst/>
          </a:prstGeom>
          <a:noFill/>
          <a:ln/>
        </p:spPr>
        <p:txBody>
          <a:bodyPr wrap="square" rtlCol="0" anchor="ctr"/>
          <a:lstStyle/>
          <a:p>
            <a:pPr algn="ctr" indent="0" marL="0">
              <a:buNone/>
            </a:pPr>
            <a:r>
              <a:rPr lang="en-US" sz="900" dirty="0">
                <a:solidFill>
                  <a:srgbClr val="D6DCE4"/>
                </a:solidFill>
                <a:latin typeface="Calibri" pitchFamily="34" charset="0"/>
                <a:ea typeface="Calibri" pitchFamily="34" charset="-122"/>
                <a:cs typeface="Calibri" pitchFamily="34" charset="-120"/>
              </a:rPr>
              <a:t>Credit Rating</a:t>
            </a:r>
            <a:endParaRPr lang="en-US" sz="900" dirty="0"/>
          </a:p>
        </p:txBody>
      </p:sp>
      <p:sp>
        <p:nvSpPr>
          <p:cNvPr id="33" name="Text 25"/>
          <p:cNvSpPr/>
          <p:nvPr/>
        </p:nvSpPr>
        <p:spPr>
          <a:xfrm>
            <a:off x="7580376" y="4352544"/>
            <a:ext cx="1444752" cy="329184"/>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AAA (CRISIL)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F3864"/>
          </a:solidFill>
          <a:ln w="12700">
            <a:solidFill>
              <a:srgbClr val="1F3864"/>
            </a:solidFill>
            <a:prstDash val="solid"/>
          </a:ln>
        </p:spPr>
      </p:sp>
      <p:sp>
        <p:nvSpPr>
          <p:cNvPr id="3" name="Shape 1"/>
          <p:cNvSpPr/>
          <p:nvPr/>
        </p:nvSpPr>
        <p:spPr>
          <a:xfrm>
            <a:off x="0" y="1024128"/>
            <a:ext cx="9144000" cy="64008"/>
          </a:xfrm>
          <a:prstGeom prst="rect">
            <a:avLst/>
          </a:prstGeom>
          <a:solidFill>
            <a:srgbClr val="C9A84C"/>
          </a:solidFill>
          <a:ln w="12700">
            <a:solidFill>
              <a:srgbClr val="C9A84C"/>
            </a:solidFill>
            <a:prstDash val="solid"/>
          </a:ln>
        </p:spPr>
      </p:sp>
      <p:sp>
        <p:nvSpPr>
          <p:cNvPr id="4" name="Text 2"/>
          <p:cNvSpPr/>
          <p:nvPr/>
        </p:nvSpPr>
        <p:spPr>
          <a:xfrm>
            <a:off x="411480" y="54864"/>
            <a:ext cx="8321040" cy="530352"/>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BUSINESS SEGMENTS</a:t>
            </a:r>
            <a:endParaRPr lang="en-US" sz="2800" dirty="0"/>
          </a:p>
        </p:txBody>
      </p:sp>
      <p:sp>
        <p:nvSpPr>
          <p:cNvPr id="5" name="Text 3"/>
          <p:cNvSpPr/>
          <p:nvPr/>
        </p:nvSpPr>
        <p:spPr>
          <a:xfrm>
            <a:off x="411480" y="603504"/>
            <a:ext cx="8321040" cy="347472"/>
          </a:xfrm>
          <a:prstGeom prst="rect">
            <a:avLst/>
          </a:prstGeom>
          <a:noFill/>
          <a:ln/>
        </p:spPr>
        <p:txBody>
          <a:bodyPr wrap="square" rtlCol="0" anchor="ctr"/>
          <a:lstStyle/>
          <a:p>
            <a:pPr algn="l" indent="0" marL="0">
              <a:buNone/>
            </a:pPr>
            <a:r>
              <a:rPr lang="en-US" sz="1200" dirty="0">
                <a:solidFill>
                  <a:srgbClr val="D6DCE4"/>
                </a:solidFill>
                <a:latin typeface="Calibri" pitchFamily="34" charset="0"/>
                <a:ea typeface="Calibri" pitchFamily="34" charset="-122"/>
                <a:cs typeface="Calibri" pitchFamily="34" charset="-120"/>
              </a:rPr>
              <a:t>Four core pillars driving revenue, growth and customer engagement</a:t>
            </a:r>
            <a:endParaRPr lang="en-US" sz="1200" dirty="0"/>
          </a:p>
        </p:txBody>
      </p:sp>
      <p:sp>
        <p:nvSpPr>
          <p:cNvPr id="6" name="Shape 4"/>
          <p:cNvSpPr/>
          <p:nvPr/>
        </p:nvSpPr>
        <p:spPr>
          <a:xfrm>
            <a:off x="228600" y="1170432"/>
            <a:ext cx="2066544" cy="3749040"/>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28600" y="1170432"/>
            <a:ext cx="2066544" cy="502920"/>
          </a:xfrm>
          <a:prstGeom prst="rect">
            <a:avLst/>
          </a:prstGeom>
          <a:solidFill>
            <a:srgbClr val="1F3864"/>
          </a:solidFill>
          <a:ln w="12700">
            <a:solidFill>
              <a:srgbClr val="1F3864"/>
            </a:solidFill>
            <a:prstDash val="solid"/>
          </a:ln>
        </p:spPr>
      </p:sp>
      <p:pic>
        <p:nvPicPr>
          <p:cNvPr id="8" name="Image 0" descr="preencoded.png">    </p:cNvPr>
          <p:cNvPicPr>
            <a:picLocks noChangeAspect="1"/>
          </p:cNvPicPr>
          <p:nvPr/>
        </p:nvPicPr>
        <p:blipFill>
          <a:blip r:embed="rId1"/>
          <a:stretch>
            <a:fillRect/>
          </a:stretch>
        </p:blipFill>
        <p:spPr>
          <a:xfrm>
            <a:off x="1051560" y="1216152"/>
            <a:ext cx="365760" cy="365760"/>
          </a:xfrm>
          <a:prstGeom prst="rect">
            <a:avLst/>
          </a:prstGeom>
        </p:spPr>
      </p:pic>
      <p:sp>
        <p:nvSpPr>
          <p:cNvPr id="9" name="Text 6"/>
          <p:cNvSpPr/>
          <p:nvPr/>
        </p:nvSpPr>
        <p:spPr>
          <a:xfrm>
            <a:off x="283464" y="1709928"/>
            <a:ext cx="1956816" cy="365760"/>
          </a:xfrm>
          <a:prstGeom prst="rect">
            <a:avLst/>
          </a:prstGeom>
          <a:noFill/>
          <a:ln/>
        </p:spPr>
        <p:txBody>
          <a:bodyPr wrap="square" rtlCol="0" anchor="ctr"/>
          <a:lstStyle/>
          <a:p>
            <a:pPr algn="ctr" indent="0" marL="0">
              <a:buNone/>
            </a:pPr>
            <a:r>
              <a:rPr lang="en-US" sz="1150" b="1" dirty="0">
                <a:solidFill>
                  <a:srgbClr val="1F3864"/>
                </a:solidFill>
                <a:latin typeface="Calibri" pitchFamily="34" charset="0"/>
                <a:ea typeface="Calibri" pitchFamily="34" charset="-122"/>
                <a:cs typeface="Calibri" pitchFamily="34" charset="-120"/>
              </a:rPr>
              <a:t>Retail Banking</a:t>
            </a:r>
            <a:endParaRPr lang="en-US" sz="1150" dirty="0"/>
          </a:p>
        </p:txBody>
      </p:sp>
      <p:sp>
        <p:nvSpPr>
          <p:cNvPr id="10" name="Shape 7"/>
          <p:cNvSpPr/>
          <p:nvPr/>
        </p:nvSpPr>
        <p:spPr>
          <a:xfrm>
            <a:off x="594360" y="2103120"/>
            <a:ext cx="1335024" cy="329184"/>
          </a:xfrm>
          <a:prstGeom prst="rect">
            <a:avLst/>
          </a:prstGeom>
          <a:solidFill>
            <a:srgbClr val="1F3864">
              <a:alpha val="12000"/>
            </a:srgbClr>
          </a:solidFill>
          <a:ln w="12700">
            <a:solidFill>
              <a:srgbClr val="1F3864">
                <a:alpha val="50000"/>
              </a:srgbClr>
            </a:solidFill>
            <a:prstDash val="solid"/>
          </a:ln>
        </p:spPr>
      </p:sp>
      <p:sp>
        <p:nvSpPr>
          <p:cNvPr id="11" name="Text 8"/>
          <p:cNvSpPr/>
          <p:nvPr/>
        </p:nvSpPr>
        <p:spPr>
          <a:xfrm>
            <a:off x="594360" y="2103120"/>
            <a:ext cx="1335024" cy="329184"/>
          </a:xfrm>
          <a:prstGeom prst="rect">
            <a:avLst/>
          </a:prstGeom>
          <a:noFill/>
          <a:ln/>
        </p:spPr>
        <p:txBody>
          <a:bodyPr wrap="square" rtlCol="0" anchor="ctr"/>
          <a:lstStyle/>
          <a:p>
            <a:pPr algn="ctr" indent="0" marL="0">
              <a:buNone/>
            </a:pPr>
            <a:r>
              <a:rPr lang="en-US" sz="900" b="1" dirty="0">
                <a:solidFill>
                  <a:srgbClr val="1F3864"/>
                </a:solidFill>
                <a:latin typeface="Calibri" pitchFamily="34" charset="0"/>
                <a:ea typeface="Calibri" pitchFamily="34" charset="-122"/>
                <a:cs typeface="Calibri" pitchFamily="34" charset="-120"/>
              </a:rPr>
              <a:t>~65% of Loan Book</a:t>
            </a:r>
            <a:endParaRPr lang="en-US" sz="900" dirty="0"/>
          </a:p>
        </p:txBody>
      </p:sp>
      <p:sp>
        <p:nvSpPr>
          <p:cNvPr id="12" name="Text 9"/>
          <p:cNvSpPr/>
          <p:nvPr/>
        </p:nvSpPr>
        <p:spPr>
          <a:xfrm>
            <a:off x="320040" y="2505456"/>
            <a:ext cx="1883664" cy="2340864"/>
          </a:xfrm>
          <a:prstGeom prst="rect">
            <a:avLst/>
          </a:prstGeom>
          <a:noFill/>
          <a:ln/>
        </p:spPr>
        <p:txBody>
          <a:bodyPr wrap="square" rtlCol="0" anchor="t"/>
          <a:lstStyle/>
          <a:p>
            <a:pPr algn="l" indent="0" marL="0">
              <a:spcAft>
                <a:spcPts val="400"/>
              </a:spcAft>
              <a:buNone/>
            </a:pPr>
            <a:r>
              <a:rPr lang="en-US" sz="1000" dirty="0">
                <a:solidFill>
                  <a:srgbClr val="374151"/>
                </a:solidFill>
                <a:latin typeface="Calibri" pitchFamily="34" charset="0"/>
                <a:ea typeface="Calibri" pitchFamily="34" charset="-122"/>
                <a:cs typeface="Calibri" pitchFamily="34" charset="-120"/>
              </a:rPr>
              <a:t>Retail banking forms the core of the bank's strategy, contributing a significant share of the loan book. Products include home loans, personal loans, auto loans, credit cards, and small business lending. This segment serves millions of individual customers across urban, semi-urban, and rural geographies, driving both asset growth and fee-based income.</a:t>
            </a:r>
            <a:endParaRPr lang="en-US" sz="1000" dirty="0"/>
          </a:p>
        </p:txBody>
      </p:sp>
      <p:sp>
        <p:nvSpPr>
          <p:cNvPr id="13" name="Shape 10"/>
          <p:cNvSpPr/>
          <p:nvPr/>
        </p:nvSpPr>
        <p:spPr>
          <a:xfrm>
            <a:off x="2404872" y="1170432"/>
            <a:ext cx="2066544" cy="3749040"/>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14" name="Shape 11"/>
          <p:cNvSpPr/>
          <p:nvPr/>
        </p:nvSpPr>
        <p:spPr>
          <a:xfrm>
            <a:off x="2404872" y="1170432"/>
            <a:ext cx="2066544" cy="502920"/>
          </a:xfrm>
          <a:prstGeom prst="rect">
            <a:avLst/>
          </a:prstGeom>
          <a:solidFill>
            <a:srgbClr val="2E4A8A"/>
          </a:solidFill>
          <a:ln w="12700">
            <a:solidFill>
              <a:srgbClr val="2E4A8A"/>
            </a:solidFill>
            <a:prstDash val="solid"/>
          </a:ln>
        </p:spPr>
      </p:sp>
      <p:pic>
        <p:nvPicPr>
          <p:cNvPr id="15" name="Image 1" descr="preencoded.png">    </p:cNvPr>
          <p:cNvPicPr>
            <a:picLocks noChangeAspect="1"/>
          </p:cNvPicPr>
          <p:nvPr/>
        </p:nvPicPr>
        <p:blipFill>
          <a:blip r:embed="rId2"/>
          <a:stretch>
            <a:fillRect/>
          </a:stretch>
        </p:blipFill>
        <p:spPr>
          <a:xfrm>
            <a:off x="3227832" y="1216152"/>
            <a:ext cx="365760" cy="365760"/>
          </a:xfrm>
          <a:prstGeom prst="rect">
            <a:avLst/>
          </a:prstGeom>
        </p:spPr>
      </p:pic>
      <p:sp>
        <p:nvSpPr>
          <p:cNvPr id="16" name="Text 12"/>
          <p:cNvSpPr/>
          <p:nvPr/>
        </p:nvSpPr>
        <p:spPr>
          <a:xfrm>
            <a:off x="2459736" y="1709928"/>
            <a:ext cx="1956816" cy="365760"/>
          </a:xfrm>
          <a:prstGeom prst="rect">
            <a:avLst/>
          </a:prstGeom>
          <a:noFill/>
          <a:ln/>
        </p:spPr>
        <p:txBody>
          <a:bodyPr wrap="square" rtlCol="0" anchor="ctr"/>
          <a:lstStyle/>
          <a:p>
            <a:pPr algn="ctr" indent="0" marL="0">
              <a:buNone/>
            </a:pPr>
            <a:r>
              <a:rPr lang="en-US" sz="1150" b="1" dirty="0">
                <a:solidFill>
                  <a:srgbClr val="1F3864"/>
                </a:solidFill>
                <a:latin typeface="Calibri" pitchFamily="34" charset="0"/>
                <a:ea typeface="Calibri" pitchFamily="34" charset="-122"/>
                <a:cs typeface="Calibri" pitchFamily="34" charset="-120"/>
              </a:rPr>
              <a:t>Wholesale Banking</a:t>
            </a:r>
            <a:endParaRPr lang="en-US" sz="1150" dirty="0"/>
          </a:p>
        </p:txBody>
      </p:sp>
      <p:sp>
        <p:nvSpPr>
          <p:cNvPr id="17" name="Shape 13"/>
          <p:cNvSpPr/>
          <p:nvPr/>
        </p:nvSpPr>
        <p:spPr>
          <a:xfrm>
            <a:off x="2770632" y="2103120"/>
            <a:ext cx="1335024" cy="329184"/>
          </a:xfrm>
          <a:prstGeom prst="rect">
            <a:avLst/>
          </a:prstGeom>
          <a:solidFill>
            <a:srgbClr val="2E4A8A">
              <a:alpha val="12000"/>
            </a:srgbClr>
          </a:solidFill>
          <a:ln w="12700">
            <a:solidFill>
              <a:srgbClr val="2E4A8A">
                <a:alpha val="50000"/>
              </a:srgbClr>
            </a:solidFill>
            <a:prstDash val="solid"/>
          </a:ln>
        </p:spPr>
      </p:sp>
      <p:sp>
        <p:nvSpPr>
          <p:cNvPr id="18" name="Text 14"/>
          <p:cNvSpPr/>
          <p:nvPr/>
        </p:nvSpPr>
        <p:spPr>
          <a:xfrm>
            <a:off x="2770632" y="2103120"/>
            <a:ext cx="1335024" cy="329184"/>
          </a:xfrm>
          <a:prstGeom prst="rect">
            <a:avLst/>
          </a:prstGeom>
          <a:noFill/>
          <a:ln/>
        </p:spPr>
        <p:txBody>
          <a:bodyPr wrap="square" rtlCol="0" anchor="ctr"/>
          <a:lstStyle/>
          <a:p>
            <a:pPr algn="ctr" indent="0" marL="0">
              <a:buNone/>
            </a:pPr>
            <a:r>
              <a:rPr lang="en-US" sz="900" b="1" dirty="0">
                <a:solidFill>
                  <a:srgbClr val="2E4A8A"/>
                </a:solidFill>
                <a:latin typeface="Calibri" pitchFamily="34" charset="0"/>
                <a:ea typeface="Calibri" pitchFamily="34" charset="-122"/>
                <a:cs typeface="Calibri" pitchFamily="34" charset="-120"/>
              </a:rPr>
              <a:t>~25% of Loan Book</a:t>
            </a:r>
            <a:endParaRPr lang="en-US" sz="900" dirty="0"/>
          </a:p>
        </p:txBody>
      </p:sp>
      <p:sp>
        <p:nvSpPr>
          <p:cNvPr id="19" name="Text 15"/>
          <p:cNvSpPr/>
          <p:nvPr/>
        </p:nvSpPr>
        <p:spPr>
          <a:xfrm>
            <a:off x="2496312" y="2505456"/>
            <a:ext cx="1883664" cy="2340864"/>
          </a:xfrm>
          <a:prstGeom prst="rect">
            <a:avLst/>
          </a:prstGeom>
          <a:noFill/>
          <a:ln/>
        </p:spPr>
        <p:txBody>
          <a:bodyPr wrap="square" rtlCol="0" anchor="t"/>
          <a:lstStyle/>
          <a:p>
            <a:pPr algn="l" indent="0" marL="0">
              <a:spcAft>
                <a:spcPts val="400"/>
              </a:spcAft>
              <a:buNone/>
            </a:pPr>
            <a:r>
              <a:rPr lang="en-US" sz="1000" dirty="0">
                <a:solidFill>
                  <a:srgbClr val="374151"/>
                </a:solidFill>
                <a:latin typeface="Calibri" pitchFamily="34" charset="0"/>
                <a:ea typeface="Calibri" pitchFamily="34" charset="-122"/>
                <a:cs typeface="Calibri" pitchFamily="34" charset="-120"/>
              </a:rPr>
              <a:t>Wholesale banking caters to large corporate clients through working capital finance, project finance, trade finance, and structured credit solutions. The bank serves multinationals, large domestic corporates, and public sector entities, offering customized financial solutions and maintaining long-term corporate relationships.</a:t>
            </a:r>
            <a:endParaRPr lang="en-US" sz="1000" dirty="0"/>
          </a:p>
        </p:txBody>
      </p:sp>
      <p:sp>
        <p:nvSpPr>
          <p:cNvPr id="20" name="Shape 16"/>
          <p:cNvSpPr/>
          <p:nvPr/>
        </p:nvSpPr>
        <p:spPr>
          <a:xfrm>
            <a:off x="4581144" y="1170432"/>
            <a:ext cx="2066544" cy="3749040"/>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21" name="Shape 17"/>
          <p:cNvSpPr/>
          <p:nvPr/>
        </p:nvSpPr>
        <p:spPr>
          <a:xfrm>
            <a:off x="4581144" y="1170432"/>
            <a:ext cx="2066544" cy="502920"/>
          </a:xfrm>
          <a:prstGeom prst="rect">
            <a:avLst/>
          </a:prstGeom>
          <a:solidFill>
            <a:srgbClr val="4472C4"/>
          </a:solidFill>
          <a:ln w="12700">
            <a:solidFill>
              <a:srgbClr val="4472C4"/>
            </a:solidFill>
            <a:prstDash val="solid"/>
          </a:ln>
        </p:spPr>
      </p:sp>
      <p:pic>
        <p:nvPicPr>
          <p:cNvPr id="22" name="Image 2" descr="preencoded.png">    </p:cNvPr>
          <p:cNvPicPr>
            <a:picLocks noChangeAspect="1"/>
          </p:cNvPicPr>
          <p:nvPr/>
        </p:nvPicPr>
        <p:blipFill>
          <a:blip r:embed="rId3"/>
          <a:stretch>
            <a:fillRect/>
          </a:stretch>
        </p:blipFill>
        <p:spPr>
          <a:xfrm>
            <a:off x="5404104" y="1216152"/>
            <a:ext cx="365760" cy="365760"/>
          </a:xfrm>
          <a:prstGeom prst="rect">
            <a:avLst/>
          </a:prstGeom>
        </p:spPr>
      </p:pic>
      <p:sp>
        <p:nvSpPr>
          <p:cNvPr id="23" name="Text 18"/>
          <p:cNvSpPr/>
          <p:nvPr/>
        </p:nvSpPr>
        <p:spPr>
          <a:xfrm>
            <a:off x="4636008" y="1709928"/>
            <a:ext cx="1956816" cy="365760"/>
          </a:xfrm>
          <a:prstGeom prst="rect">
            <a:avLst/>
          </a:prstGeom>
          <a:noFill/>
          <a:ln/>
        </p:spPr>
        <p:txBody>
          <a:bodyPr wrap="square" rtlCol="0" anchor="ctr"/>
          <a:lstStyle/>
          <a:p>
            <a:pPr algn="ctr" indent="0" marL="0">
              <a:buNone/>
            </a:pPr>
            <a:r>
              <a:rPr lang="en-US" sz="1150" b="1" dirty="0">
                <a:solidFill>
                  <a:srgbClr val="1F3864"/>
                </a:solidFill>
                <a:latin typeface="Calibri" pitchFamily="34" charset="0"/>
                <a:ea typeface="Calibri" pitchFamily="34" charset="-122"/>
                <a:cs typeface="Calibri" pitchFamily="34" charset="-120"/>
              </a:rPr>
              <a:t>Treasury Operations</a:t>
            </a:r>
            <a:endParaRPr lang="en-US" sz="1150" dirty="0"/>
          </a:p>
        </p:txBody>
      </p:sp>
      <p:sp>
        <p:nvSpPr>
          <p:cNvPr id="24" name="Shape 19"/>
          <p:cNvSpPr/>
          <p:nvPr/>
        </p:nvSpPr>
        <p:spPr>
          <a:xfrm>
            <a:off x="4946904" y="2103120"/>
            <a:ext cx="1335024" cy="329184"/>
          </a:xfrm>
          <a:prstGeom prst="rect">
            <a:avLst/>
          </a:prstGeom>
          <a:solidFill>
            <a:srgbClr val="4472C4">
              <a:alpha val="12000"/>
            </a:srgbClr>
          </a:solidFill>
          <a:ln w="12700">
            <a:solidFill>
              <a:srgbClr val="4472C4">
                <a:alpha val="50000"/>
              </a:srgbClr>
            </a:solidFill>
            <a:prstDash val="solid"/>
          </a:ln>
        </p:spPr>
      </p:sp>
      <p:sp>
        <p:nvSpPr>
          <p:cNvPr id="25" name="Text 20"/>
          <p:cNvSpPr/>
          <p:nvPr/>
        </p:nvSpPr>
        <p:spPr>
          <a:xfrm>
            <a:off x="4946904" y="2103120"/>
            <a:ext cx="1335024" cy="329184"/>
          </a:xfrm>
          <a:prstGeom prst="rect">
            <a:avLst/>
          </a:prstGeom>
          <a:noFill/>
          <a:ln/>
        </p:spPr>
        <p:txBody>
          <a:bodyPr wrap="square" rtlCol="0" anchor="ctr"/>
          <a:lstStyle/>
          <a:p>
            <a:pPr algn="ctr" indent="0" marL="0">
              <a:buNone/>
            </a:pPr>
            <a:r>
              <a:rPr lang="en-US" sz="900" b="1" dirty="0">
                <a:solidFill>
                  <a:srgbClr val="4472C4"/>
                </a:solidFill>
                <a:latin typeface="Calibri" pitchFamily="34" charset="0"/>
                <a:ea typeface="Calibri" pitchFamily="34" charset="-122"/>
                <a:cs typeface="Calibri" pitchFamily="34" charset="-120"/>
              </a:rPr>
              <a:t>ALM &amp; Liquidity</a:t>
            </a:r>
            <a:endParaRPr lang="en-US" sz="900" dirty="0"/>
          </a:p>
        </p:txBody>
      </p:sp>
      <p:sp>
        <p:nvSpPr>
          <p:cNvPr id="26" name="Text 21"/>
          <p:cNvSpPr/>
          <p:nvPr/>
        </p:nvSpPr>
        <p:spPr>
          <a:xfrm>
            <a:off x="4672584" y="2505456"/>
            <a:ext cx="1883664" cy="2340864"/>
          </a:xfrm>
          <a:prstGeom prst="rect">
            <a:avLst/>
          </a:prstGeom>
          <a:noFill/>
          <a:ln/>
        </p:spPr>
        <p:txBody>
          <a:bodyPr wrap="square" rtlCol="0" anchor="t"/>
          <a:lstStyle/>
          <a:p>
            <a:pPr algn="l" indent="0" marL="0">
              <a:spcAft>
                <a:spcPts val="400"/>
              </a:spcAft>
              <a:buNone/>
            </a:pPr>
            <a:r>
              <a:rPr lang="en-US" sz="1000" dirty="0">
                <a:solidFill>
                  <a:srgbClr val="374151"/>
                </a:solidFill>
                <a:latin typeface="Calibri" pitchFamily="34" charset="0"/>
                <a:ea typeface="Calibri" pitchFamily="34" charset="-122"/>
                <a:cs typeface="Calibri" pitchFamily="34" charset="-120"/>
              </a:rPr>
              <a:t>The treasury division manages liquidity, investments, and foreign exchange operations, playing an important role in maintaining balance sheet efficiency. It handles proprietary trading in government securities, manages the investment book, and ensures optimal Asset-Liability Management (ALM) to sustain net interest margins across interest rate cycles.</a:t>
            </a:r>
            <a:endParaRPr lang="en-US" sz="1000" dirty="0"/>
          </a:p>
        </p:txBody>
      </p:sp>
      <p:sp>
        <p:nvSpPr>
          <p:cNvPr id="27" name="Shape 22"/>
          <p:cNvSpPr/>
          <p:nvPr/>
        </p:nvSpPr>
        <p:spPr>
          <a:xfrm>
            <a:off x="6757416" y="1170432"/>
            <a:ext cx="2066544" cy="3749040"/>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28" name="Shape 23"/>
          <p:cNvSpPr/>
          <p:nvPr/>
        </p:nvSpPr>
        <p:spPr>
          <a:xfrm>
            <a:off x="6757416" y="1170432"/>
            <a:ext cx="2066544" cy="502920"/>
          </a:xfrm>
          <a:prstGeom prst="rect">
            <a:avLst/>
          </a:prstGeom>
          <a:solidFill>
            <a:srgbClr val="1E6091"/>
          </a:solidFill>
          <a:ln w="12700">
            <a:solidFill>
              <a:srgbClr val="1E6091"/>
            </a:solidFill>
            <a:prstDash val="solid"/>
          </a:ln>
        </p:spPr>
      </p:sp>
      <p:pic>
        <p:nvPicPr>
          <p:cNvPr id="29" name="Image 3" descr="preencoded.png">    </p:cNvPr>
          <p:cNvPicPr>
            <a:picLocks noChangeAspect="1"/>
          </p:cNvPicPr>
          <p:nvPr/>
        </p:nvPicPr>
        <p:blipFill>
          <a:blip r:embed="rId4"/>
          <a:stretch>
            <a:fillRect/>
          </a:stretch>
        </p:blipFill>
        <p:spPr>
          <a:xfrm>
            <a:off x="7580376" y="1216152"/>
            <a:ext cx="365760" cy="365760"/>
          </a:xfrm>
          <a:prstGeom prst="rect">
            <a:avLst/>
          </a:prstGeom>
        </p:spPr>
      </p:pic>
      <p:sp>
        <p:nvSpPr>
          <p:cNvPr id="30" name="Text 24"/>
          <p:cNvSpPr/>
          <p:nvPr/>
        </p:nvSpPr>
        <p:spPr>
          <a:xfrm>
            <a:off x="6812280" y="1709928"/>
            <a:ext cx="1956816" cy="365760"/>
          </a:xfrm>
          <a:prstGeom prst="rect">
            <a:avLst/>
          </a:prstGeom>
          <a:noFill/>
          <a:ln/>
        </p:spPr>
        <p:txBody>
          <a:bodyPr wrap="square" rtlCol="0" anchor="ctr"/>
          <a:lstStyle/>
          <a:p>
            <a:pPr algn="ctr" indent="0" marL="0">
              <a:buNone/>
            </a:pPr>
            <a:r>
              <a:rPr lang="en-US" sz="1150" b="1" dirty="0">
                <a:solidFill>
                  <a:srgbClr val="1F3864"/>
                </a:solidFill>
                <a:latin typeface="Calibri" pitchFamily="34" charset="0"/>
                <a:ea typeface="Calibri" pitchFamily="34" charset="-122"/>
                <a:cs typeface="Calibri" pitchFamily="34" charset="-120"/>
              </a:rPr>
              <a:t>Digital Financial Services</a:t>
            </a:r>
            <a:endParaRPr lang="en-US" sz="1150" dirty="0"/>
          </a:p>
        </p:txBody>
      </p:sp>
      <p:sp>
        <p:nvSpPr>
          <p:cNvPr id="31" name="Shape 25"/>
          <p:cNvSpPr/>
          <p:nvPr/>
        </p:nvSpPr>
        <p:spPr>
          <a:xfrm>
            <a:off x="7123176" y="2103120"/>
            <a:ext cx="1335024" cy="329184"/>
          </a:xfrm>
          <a:prstGeom prst="rect">
            <a:avLst/>
          </a:prstGeom>
          <a:solidFill>
            <a:srgbClr val="1E6091">
              <a:alpha val="12000"/>
            </a:srgbClr>
          </a:solidFill>
          <a:ln w="12700">
            <a:solidFill>
              <a:srgbClr val="1E6091">
                <a:alpha val="50000"/>
              </a:srgbClr>
            </a:solidFill>
            <a:prstDash val="solid"/>
          </a:ln>
        </p:spPr>
      </p:sp>
      <p:sp>
        <p:nvSpPr>
          <p:cNvPr id="32" name="Text 26"/>
          <p:cNvSpPr/>
          <p:nvPr/>
        </p:nvSpPr>
        <p:spPr>
          <a:xfrm>
            <a:off x="7123176" y="2103120"/>
            <a:ext cx="1335024" cy="329184"/>
          </a:xfrm>
          <a:prstGeom prst="rect">
            <a:avLst/>
          </a:prstGeom>
          <a:noFill/>
          <a:ln/>
        </p:spPr>
        <p:txBody>
          <a:bodyPr wrap="square" rtlCol="0" anchor="ctr"/>
          <a:lstStyle/>
          <a:p>
            <a:pPr algn="ctr" indent="0" marL="0">
              <a:buNone/>
            </a:pPr>
            <a:r>
              <a:rPr lang="en-US" sz="900" b="1" dirty="0">
                <a:solidFill>
                  <a:srgbClr val="1E6091"/>
                </a:solidFill>
                <a:latin typeface="Calibri" pitchFamily="34" charset="0"/>
                <a:ea typeface="Calibri" pitchFamily="34" charset="-122"/>
                <a:cs typeface="Calibri" pitchFamily="34" charset="-120"/>
              </a:rPr>
              <a:t>30%+ CAGR Growth</a:t>
            </a:r>
            <a:endParaRPr lang="en-US" sz="900" dirty="0"/>
          </a:p>
        </p:txBody>
      </p:sp>
      <p:sp>
        <p:nvSpPr>
          <p:cNvPr id="33" name="Text 27"/>
          <p:cNvSpPr/>
          <p:nvPr/>
        </p:nvSpPr>
        <p:spPr>
          <a:xfrm>
            <a:off x="6848856" y="2505456"/>
            <a:ext cx="1883664" cy="2340864"/>
          </a:xfrm>
          <a:prstGeom prst="rect">
            <a:avLst/>
          </a:prstGeom>
          <a:noFill/>
          <a:ln/>
        </p:spPr>
        <p:txBody>
          <a:bodyPr wrap="square" rtlCol="0" anchor="t"/>
          <a:lstStyle/>
          <a:p>
            <a:pPr algn="l" indent="0" marL="0">
              <a:spcAft>
                <a:spcPts val="400"/>
              </a:spcAft>
              <a:buNone/>
            </a:pPr>
            <a:r>
              <a:rPr lang="en-US" sz="1000" dirty="0">
                <a:solidFill>
                  <a:srgbClr val="374151"/>
                </a:solidFill>
                <a:latin typeface="Calibri" pitchFamily="34" charset="0"/>
                <a:ea typeface="Calibri" pitchFamily="34" charset="-122"/>
                <a:cs typeface="Calibri" pitchFamily="34" charset="-120"/>
              </a:rPr>
              <a:t>HDFC Bank has invested heavily in digital platforms including PayZapp 2.0, SmartHub Vyapar for merchants, and deep UPI integration. This segment enhances customer experience, expands distribution channels, and drives growing fee-based income. Digital banking adoption continues to accelerate, enabling the bank to compete effectively in the evolving fintech landscape.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F3864"/>
          </a:solidFill>
          <a:ln w="12700">
            <a:solidFill>
              <a:srgbClr val="1F3864"/>
            </a:solidFill>
            <a:prstDash val="solid"/>
          </a:ln>
        </p:spPr>
      </p:sp>
      <p:sp>
        <p:nvSpPr>
          <p:cNvPr id="3" name="Shape 1"/>
          <p:cNvSpPr/>
          <p:nvPr/>
        </p:nvSpPr>
        <p:spPr>
          <a:xfrm>
            <a:off x="0" y="1024128"/>
            <a:ext cx="9144000" cy="64008"/>
          </a:xfrm>
          <a:prstGeom prst="rect">
            <a:avLst/>
          </a:prstGeom>
          <a:solidFill>
            <a:srgbClr val="C9A84C"/>
          </a:solidFill>
          <a:ln w="12700">
            <a:solidFill>
              <a:srgbClr val="C9A84C"/>
            </a:solidFill>
            <a:prstDash val="solid"/>
          </a:ln>
        </p:spPr>
      </p:sp>
      <p:sp>
        <p:nvSpPr>
          <p:cNvPr id="4" name="Text 2"/>
          <p:cNvSpPr/>
          <p:nvPr/>
        </p:nvSpPr>
        <p:spPr>
          <a:xfrm>
            <a:off x="411480" y="54864"/>
            <a:ext cx="8321040" cy="530352"/>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DEPOSIT FRANCHISE &amp; NET INTEREST MARGIN</a:t>
            </a:r>
            <a:endParaRPr lang="en-US" sz="2800" dirty="0"/>
          </a:p>
        </p:txBody>
      </p:sp>
      <p:sp>
        <p:nvSpPr>
          <p:cNvPr id="5" name="Text 3"/>
          <p:cNvSpPr/>
          <p:nvPr/>
        </p:nvSpPr>
        <p:spPr>
          <a:xfrm>
            <a:off x="411480" y="603504"/>
            <a:ext cx="8321040" cy="347472"/>
          </a:xfrm>
          <a:prstGeom prst="rect">
            <a:avLst/>
          </a:prstGeom>
          <a:noFill/>
          <a:ln/>
        </p:spPr>
        <p:txBody>
          <a:bodyPr wrap="square" rtlCol="0" anchor="ctr"/>
          <a:lstStyle/>
          <a:p>
            <a:pPr algn="l" indent="0" marL="0">
              <a:buNone/>
            </a:pPr>
            <a:r>
              <a:rPr lang="en-US" sz="1200" dirty="0">
                <a:solidFill>
                  <a:srgbClr val="D6DCE4"/>
                </a:solidFill>
                <a:latin typeface="Calibri" pitchFamily="34" charset="0"/>
                <a:ea typeface="Calibri" pitchFamily="34" charset="-122"/>
                <a:cs typeface="Calibri" pitchFamily="34" charset="-120"/>
              </a:rPr>
              <a:t>Low-cost CASA deposits — the engine of HDFC Bank's margin superiority</a:t>
            </a:r>
            <a:endParaRPr lang="en-US" sz="1200" dirty="0"/>
          </a:p>
        </p:txBody>
      </p:sp>
      <p:sp>
        <p:nvSpPr>
          <p:cNvPr id="6" name="Shape 4"/>
          <p:cNvSpPr/>
          <p:nvPr/>
        </p:nvSpPr>
        <p:spPr>
          <a:xfrm>
            <a:off x="274320" y="1170432"/>
            <a:ext cx="5349240" cy="3730752"/>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74320" y="1170432"/>
            <a:ext cx="5349240" cy="475488"/>
          </a:xfrm>
          <a:prstGeom prst="rect">
            <a:avLst/>
          </a:prstGeom>
          <a:solidFill>
            <a:srgbClr val="2E4A8A"/>
          </a:solidFill>
          <a:ln w="12700">
            <a:solidFill>
              <a:srgbClr val="2E4A8A"/>
            </a:solidFill>
            <a:prstDash val="solid"/>
          </a:ln>
        </p:spPr>
      </p:sp>
      <p:sp>
        <p:nvSpPr>
          <p:cNvPr id="8" name="Text 6"/>
          <p:cNvSpPr/>
          <p:nvPr/>
        </p:nvSpPr>
        <p:spPr>
          <a:xfrm>
            <a:off x="420624" y="1188720"/>
            <a:ext cx="5047488" cy="420624"/>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Why Deposit Franchise is HDFC Bank's Core Moat</a:t>
            </a:r>
            <a:endParaRPr lang="en-US" sz="1250" dirty="0"/>
          </a:p>
        </p:txBody>
      </p:sp>
      <p:sp>
        <p:nvSpPr>
          <p:cNvPr id="9" name="Text 7"/>
          <p:cNvSpPr/>
          <p:nvPr/>
        </p:nvSpPr>
        <p:spPr>
          <a:xfrm>
            <a:off x="420624" y="1700784"/>
            <a:ext cx="5047488" cy="3090672"/>
          </a:xfrm>
          <a:prstGeom prst="rect">
            <a:avLst/>
          </a:prstGeom>
          <a:noFill/>
          <a:ln/>
        </p:spPr>
        <p:txBody>
          <a:bodyPr wrap="square" rtlCol="0" anchor="t"/>
          <a:lstStyle/>
          <a:p>
            <a:pPr algn="l" indent="0" marL="0">
              <a:spcAft>
                <a:spcPts val="800"/>
              </a:spcAft>
              <a:buNone/>
            </a:pPr>
            <a:r>
              <a:rPr lang="en-US" sz="1100" dirty="0">
                <a:solidFill>
                  <a:srgbClr val="374151"/>
                </a:solidFill>
                <a:latin typeface="Calibri" pitchFamily="34" charset="0"/>
                <a:ea typeface="Calibri" pitchFamily="34" charset="-122"/>
                <a:cs typeface="Calibri" pitchFamily="34" charset="-120"/>
              </a:rPr>
              <a:t>A key strength of HDFC Bank lies in its deposit franchise. The bank has consistently maintained a high proportion of low-cost deposits, particularly through Current and Savings Accounts (CASA). This allows the bank to sustain a strong Net Interest Margin (NIM), which is a crucial profitability indicator for banks.</a:t>
            </a:r>
            <a:endParaRPr lang="en-US" sz="1100" dirty="0"/>
          </a:p>
          <a:p>
            <a:pPr algn="l" indent="0" marL="0">
              <a:spcAft>
                <a:spcPts val="800"/>
              </a:spcAft>
              <a:buNone/>
            </a:pPr>
            <a:endParaRPr lang="en-US" sz="1100" dirty="0"/>
          </a:p>
          <a:p>
            <a:pPr algn="l" indent="0" marL="0">
              <a:spcAft>
                <a:spcPts val="800"/>
              </a:spcAft>
              <a:buNone/>
            </a:pPr>
            <a:r>
              <a:rPr lang="en-US" sz="1100" dirty="0">
                <a:solidFill>
                  <a:srgbClr val="374151"/>
                </a:solidFill>
                <a:latin typeface="Calibri" pitchFamily="34" charset="0"/>
                <a:ea typeface="Calibri" pitchFamily="34" charset="-122"/>
                <a:cs typeface="Calibri" pitchFamily="34" charset="-120"/>
              </a:rPr>
              <a:t>Over time, HDFC Bank has demonstrated an ability to maintain stable margins despite changes in the interest rate environment, reflecting its disciplined asset-liability management and diversified loan portfolio. The bank's pricing power on the liability side — driven by brand trust and customer loyalty — gives it a structural cost advantage versus peers.</a:t>
            </a:r>
            <a:endParaRPr lang="en-US" sz="1100" dirty="0"/>
          </a:p>
          <a:p>
            <a:pPr algn="l" indent="0" marL="0">
              <a:spcAft>
                <a:spcPts val="800"/>
              </a:spcAft>
              <a:buNone/>
            </a:pPr>
            <a:endParaRPr lang="en-US" sz="1100" dirty="0"/>
          </a:p>
          <a:p>
            <a:pPr algn="l" indent="0" marL="0">
              <a:spcAft>
                <a:spcPts val="800"/>
              </a:spcAft>
              <a:buNone/>
            </a:pPr>
            <a:r>
              <a:rPr lang="en-US" sz="1100" dirty="0">
                <a:solidFill>
                  <a:srgbClr val="374151"/>
                </a:solidFill>
                <a:latin typeface="Calibri" pitchFamily="34" charset="0"/>
                <a:ea typeface="Calibri" pitchFamily="34" charset="-122"/>
                <a:cs typeface="Calibri" pitchFamily="34" charset="-120"/>
              </a:rPr>
              <a:t>The CASA ratio represents the proportion of low-cost current and savings deposits in total deposits. A higher CASA ratio means the bank pays minimal or zero interest on a large part of its deposit base, directly improving net interest income and margin quality. HDFC Bank's CASA has historically remained one of the highest in Indian private banking.</a:t>
            </a:r>
            <a:endParaRPr lang="en-US" sz="1100" dirty="0"/>
          </a:p>
          <a:p>
            <a:pPr algn="l" indent="0" marL="0">
              <a:spcAft>
                <a:spcPts val="800"/>
              </a:spcAft>
              <a:buNone/>
            </a:pPr>
            <a:endParaRPr lang="en-US" sz="1100" dirty="0"/>
          </a:p>
          <a:p>
            <a:pPr algn="l" indent="0" marL="0">
              <a:spcAft>
                <a:spcPts val="800"/>
              </a:spcAft>
              <a:buNone/>
            </a:pPr>
            <a:r>
              <a:rPr lang="en-US" sz="1100" dirty="0">
                <a:solidFill>
                  <a:srgbClr val="374151"/>
                </a:solidFill>
                <a:latin typeface="Calibri" pitchFamily="34" charset="0"/>
                <a:ea typeface="Calibri" pitchFamily="34" charset="-122"/>
                <a:cs typeface="Calibri" pitchFamily="34" charset="-120"/>
              </a:rPr>
              <a:t>This funding advantage, combined with disciplined lending standards, enables HDFC Bank to consistently earn spreads well above the cost of capital — creating sustainable value for shareholders across economic cycles.</a:t>
            </a:r>
            <a:endParaRPr lang="en-US" sz="1100" dirty="0"/>
          </a:p>
        </p:txBody>
      </p:sp>
      <p:sp>
        <p:nvSpPr>
          <p:cNvPr id="10" name="Shape 8"/>
          <p:cNvSpPr/>
          <p:nvPr/>
        </p:nvSpPr>
        <p:spPr>
          <a:xfrm>
            <a:off x="5833872" y="1170432"/>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5833872" y="1170432"/>
            <a:ext cx="109728" cy="859536"/>
          </a:xfrm>
          <a:prstGeom prst="rect">
            <a:avLst/>
          </a:prstGeom>
          <a:solidFill>
            <a:srgbClr val="1F3864"/>
          </a:solidFill>
          <a:ln w="12700">
            <a:solidFill>
              <a:srgbClr val="1F3864"/>
            </a:solidFill>
            <a:prstDash val="solid"/>
          </a:ln>
        </p:spPr>
      </p:sp>
      <p:sp>
        <p:nvSpPr>
          <p:cNvPr id="12" name="Text 10"/>
          <p:cNvSpPr/>
          <p:nvPr/>
        </p:nvSpPr>
        <p:spPr>
          <a:xfrm>
            <a:off x="6016752" y="1225296"/>
            <a:ext cx="2743200" cy="237744"/>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CASA Ratio</a:t>
            </a:r>
            <a:endParaRPr lang="en-US" sz="1000" dirty="0"/>
          </a:p>
        </p:txBody>
      </p:sp>
      <p:sp>
        <p:nvSpPr>
          <p:cNvPr id="13" name="Text 11"/>
          <p:cNvSpPr/>
          <p:nvPr/>
        </p:nvSpPr>
        <p:spPr>
          <a:xfrm>
            <a:off x="6016752" y="1444752"/>
            <a:ext cx="2743200" cy="365760"/>
          </a:xfrm>
          <a:prstGeom prst="rect">
            <a:avLst/>
          </a:prstGeom>
          <a:noFill/>
          <a:ln/>
        </p:spPr>
        <p:txBody>
          <a:bodyPr wrap="square"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~42%</a:t>
            </a:r>
            <a:endParaRPr lang="en-US" sz="2200" dirty="0"/>
          </a:p>
        </p:txBody>
      </p:sp>
      <p:sp>
        <p:nvSpPr>
          <p:cNvPr id="14" name="Text 12"/>
          <p:cNvSpPr/>
          <p:nvPr/>
        </p:nvSpPr>
        <p:spPr>
          <a:xfrm>
            <a:off x="6016752" y="1792224"/>
            <a:ext cx="2743200" cy="201168"/>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vs ~35% industry avg</a:t>
            </a:r>
            <a:endParaRPr lang="en-US" sz="950" dirty="0"/>
          </a:p>
        </p:txBody>
      </p:sp>
      <p:sp>
        <p:nvSpPr>
          <p:cNvPr id="15" name="Shape 13"/>
          <p:cNvSpPr/>
          <p:nvPr/>
        </p:nvSpPr>
        <p:spPr>
          <a:xfrm>
            <a:off x="5833872" y="2139696"/>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5833872" y="2139696"/>
            <a:ext cx="109728" cy="859536"/>
          </a:xfrm>
          <a:prstGeom prst="rect">
            <a:avLst/>
          </a:prstGeom>
          <a:solidFill>
            <a:srgbClr val="2E4A8A"/>
          </a:solidFill>
          <a:ln w="12700">
            <a:solidFill>
              <a:srgbClr val="2E4A8A"/>
            </a:solidFill>
            <a:prstDash val="solid"/>
          </a:ln>
        </p:spPr>
      </p:sp>
      <p:sp>
        <p:nvSpPr>
          <p:cNvPr id="17" name="Text 15"/>
          <p:cNvSpPr/>
          <p:nvPr/>
        </p:nvSpPr>
        <p:spPr>
          <a:xfrm>
            <a:off x="6016752" y="2194560"/>
            <a:ext cx="2743200" cy="237744"/>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Net Interest Margin</a:t>
            </a:r>
            <a:endParaRPr lang="en-US" sz="1000" dirty="0"/>
          </a:p>
        </p:txBody>
      </p:sp>
      <p:sp>
        <p:nvSpPr>
          <p:cNvPr id="18" name="Text 16"/>
          <p:cNvSpPr/>
          <p:nvPr/>
        </p:nvSpPr>
        <p:spPr>
          <a:xfrm>
            <a:off x="6016752" y="2414016"/>
            <a:ext cx="2743200" cy="365760"/>
          </a:xfrm>
          <a:prstGeom prst="rect">
            <a:avLst/>
          </a:prstGeom>
          <a:noFill/>
          <a:ln/>
        </p:spPr>
        <p:txBody>
          <a:bodyPr wrap="square" rtlCol="0" anchor="ctr"/>
          <a:lstStyle/>
          <a:p>
            <a:pPr indent="0" marL="0">
              <a:buNone/>
            </a:pPr>
            <a:r>
              <a:rPr lang="en-US" sz="2200" b="1" dirty="0">
                <a:solidFill>
                  <a:srgbClr val="2E4A8A"/>
                </a:solidFill>
                <a:latin typeface="Calibri" pitchFamily="34" charset="0"/>
                <a:ea typeface="Calibri" pitchFamily="34" charset="-122"/>
                <a:cs typeface="Calibri" pitchFamily="34" charset="-120"/>
              </a:rPr>
              <a:t>~5.8%</a:t>
            </a:r>
            <a:endParaRPr lang="en-US" sz="2200" dirty="0"/>
          </a:p>
        </p:txBody>
      </p:sp>
      <p:sp>
        <p:nvSpPr>
          <p:cNvPr id="19" name="Text 17"/>
          <p:cNvSpPr/>
          <p:nvPr/>
        </p:nvSpPr>
        <p:spPr>
          <a:xfrm>
            <a:off x="6016752" y="2761488"/>
            <a:ext cx="2743200" cy="201168"/>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Stable post-merger NIM</a:t>
            </a:r>
            <a:endParaRPr lang="en-US" sz="950" dirty="0"/>
          </a:p>
        </p:txBody>
      </p:sp>
      <p:sp>
        <p:nvSpPr>
          <p:cNvPr id="20" name="Shape 18"/>
          <p:cNvSpPr/>
          <p:nvPr/>
        </p:nvSpPr>
        <p:spPr>
          <a:xfrm>
            <a:off x="5833872" y="3108960"/>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5833872" y="3108960"/>
            <a:ext cx="109728" cy="859536"/>
          </a:xfrm>
          <a:prstGeom prst="rect">
            <a:avLst/>
          </a:prstGeom>
          <a:solidFill>
            <a:srgbClr val="4472C4"/>
          </a:solidFill>
          <a:ln w="12700">
            <a:solidFill>
              <a:srgbClr val="4472C4"/>
            </a:solidFill>
            <a:prstDash val="solid"/>
          </a:ln>
        </p:spPr>
      </p:sp>
      <p:sp>
        <p:nvSpPr>
          <p:cNvPr id="22" name="Text 20"/>
          <p:cNvSpPr/>
          <p:nvPr/>
        </p:nvSpPr>
        <p:spPr>
          <a:xfrm>
            <a:off x="6016752" y="3163824"/>
            <a:ext cx="2743200" cy="237744"/>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Cost of Deposits</a:t>
            </a:r>
            <a:endParaRPr lang="en-US" sz="1000" dirty="0"/>
          </a:p>
        </p:txBody>
      </p:sp>
      <p:sp>
        <p:nvSpPr>
          <p:cNvPr id="23" name="Text 21"/>
          <p:cNvSpPr/>
          <p:nvPr/>
        </p:nvSpPr>
        <p:spPr>
          <a:xfrm>
            <a:off x="6016752" y="3383280"/>
            <a:ext cx="2743200" cy="365760"/>
          </a:xfrm>
          <a:prstGeom prst="rect">
            <a:avLst/>
          </a:prstGeom>
          <a:noFill/>
          <a:ln/>
        </p:spPr>
        <p:txBody>
          <a:bodyPr wrap="square" rtlCol="0" anchor="ctr"/>
          <a:lstStyle/>
          <a:p>
            <a:pPr indent="0" marL="0">
              <a:buNone/>
            </a:pPr>
            <a:r>
              <a:rPr lang="en-US" sz="2200" b="1" dirty="0">
                <a:solidFill>
                  <a:srgbClr val="4472C4"/>
                </a:solidFill>
                <a:latin typeface="Calibri" pitchFamily="34" charset="0"/>
                <a:ea typeface="Calibri" pitchFamily="34" charset="-122"/>
                <a:cs typeface="Calibri" pitchFamily="34" charset="-120"/>
              </a:rPr>
              <a:t>Competitive</a:t>
            </a:r>
            <a:endParaRPr lang="en-US" sz="2200" dirty="0"/>
          </a:p>
        </p:txBody>
      </p:sp>
      <p:sp>
        <p:nvSpPr>
          <p:cNvPr id="24" name="Text 22"/>
          <p:cNvSpPr/>
          <p:nvPr/>
        </p:nvSpPr>
        <p:spPr>
          <a:xfrm>
            <a:off x="6016752" y="3730752"/>
            <a:ext cx="2743200" cy="201168"/>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Below sector average</a:t>
            </a:r>
            <a:endParaRPr lang="en-US" sz="950" dirty="0"/>
          </a:p>
        </p:txBody>
      </p:sp>
      <p:sp>
        <p:nvSpPr>
          <p:cNvPr id="25" name="Shape 23"/>
          <p:cNvSpPr/>
          <p:nvPr/>
        </p:nvSpPr>
        <p:spPr>
          <a:xfrm>
            <a:off x="5833872" y="4078224"/>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5833872" y="4078224"/>
            <a:ext cx="109728" cy="859536"/>
          </a:xfrm>
          <a:prstGeom prst="rect">
            <a:avLst/>
          </a:prstGeom>
          <a:solidFill>
            <a:srgbClr val="1F3864"/>
          </a:solidFill>
          <a:ln w="12700">
            <a:solidFill>
              <a:srgbClr val="1F3864"/>
            </a:solidFill>
            <a:prstDash val="solid"/>
          </a:ln>
        </p:spPr>
      </p:sp>
      <p:sp>
        <p:nvSpPr>
          <p:cNvPr id="27" name="Text 25"/>
          <p:cNvSpPr/>
          <p:nvPr/>
        </p:nvSpPr>
        <p:spPr>
          <a:xfrm>
            <a:off x="6016752" y="4133088"/>
            <a:ext cx="2743200" cy="237744"/>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CASA Deposits (FY25)</a:t>
            </a:r>
            <a:endParaRPr lang="en-US" sz="1000" dirty="0"/>
          </a:p>
        </p:txBody>
      </p:sp>
      <p:sp>
        <p:nvSpPr>
          <p:cNvPr id="28" name="Text 26"/>
          <p:cNvSpPr/>
          <p:nvPr/>
        </p:nvSpPr>
        <p:spPr>
          <a:xfrm>
            <a:off x="6016752" y="4352544"/>
            <a:ext cx="2743200" cy="365760"/>
          </a:xfrm>
          <a:prstGeom prst="rect">
            <a:avLst/>
          </a:prstGeom>
          <a:noFill/>
          <a:ln/>
        </p:spPr>
        <p:txBody>
          <a:bodyPr wrap="square"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~₹6.5L Cr</a:t>
            </a:r>
            <a:endParaRPr lang="en-US" sz="2200" dirty="0"/>
          </a:p>
        </p:txBody>
      </p:sp>
      <p:sp>
        <p:nvSpPr>
          <p:cNvPr id="29" name="Text 27"/>
          <p:cNvSpPr/>
          <p:nvPr/>
        </p:nvSpPr>
        <p:spPr>
          <a:xfrm>
            <a:off x="6016752" y="4700016"/>
            <a:ext cx="2743200" cy="201168"/>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Current &amp; Savings Base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F3864"/>
          </a:solidFill>
          <a:ln w="12700">
            <a:solidFill>
              <a:srgbClr val="1F3864"/>
            </a:solidFill>
            <a:prstDash val="solid"/>
          </a:ln>
        </p:spPr>
      </p:sp>
      <p:sp>
        <p:nvSpPr>
          <p:cNvPr id="3" name="Shape 1"/>
          <p:cNvSpPr/>
          <p:nvPr/>
        </p:nvSpPr>
        <p:spPr>
          <a:xfrm>
            <a:off x="0" y="1024128"/>
            <a:ext cx="9144000" cy="64008"/>
          </a:xfrm>
          <a:prstGeom prst="rect">
            <a:avLst/>
          </a:prstGeom>
          <a:solidFill>
            <a:srgbClr val="C9A84C"/>
          </a:solidFill>
          <a:ln w="12700">
            <a:solidFill>
              <a:srgbClr val="C9A84C"/>
            </a:solidFill>
            <a:prstDash val="solid"/>
          </a:ln>
        </p:spPr>
      </p:sp>
      <p:sp>
        <p:nvSpPr>
          <p:cNvPr id="4" name="Text 2"/>
          <p:cNvSpPr/>
          <p:nvPr/>
        </p:nvSpPr>
        <p:spPr>
          <a:xfrm>
            <a:off x="411480" y="54864"/>
            <a:ext cx="8321040" cy="530352"/>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FINANCIAL PERFORMANCE — TRACK RECORD</a:t>
            </a:r>
            <a:endParaRPr lang="en-US" sz="2800" dirty="0"/>
          </a:p>
        </p:txBody>
      </p:sp>
      <p:sp>
        <p:nvSpPr>
          <p:cNvPr id="5" name="Text 3"/>
          <p:cNvSpPr/>
          <p:nvPr/>
        </p:nvSpPr>
        <p:spPr>
          <a:xfrm>
            <a:off x="411480" y="603504"/>
            <a:ext cx="8321040" cy="347472"/>
          </a:xfrm>
          <a:prstGeom prst="rect">
            <a:avLst/>
          </a:prstGeom>
          <a:noFill/>
          <a:ln/>
        </p:spPr>
        <p:txBody>
          <a:bodyPr wrap="square" rtlCol="0" anchor="ctr"/>
          <a:lstStyle/>
          <a:p>
            <a:pPr algn="l" indent="0" marL="0">
              <a:buNone/>
            </a:pPr>
            <a:r>
              <a:rPr lang="en-US" sz="1200" dirty="0">
                <a:solidFill>
                  <a:srgbClr val="D6DCE4"/>
                </a:solidFill>
                <a:latin typeface="Calibri" pitchFamily="34" charset="0"/>
                <a:ea typeface="Calibri" pitchFamily="34" charset="-122"/>
                <a:cs typeface="Calibri" pitchFamily="34" charset="-120"/>
              </a:rPr>
              <a:t>Consistent loan, deposit &amp; profit growth with industry-leading asset quality</a:t>
            </a:r>
            <a:endParaRPr lang="en-US" sz="1200" dirty="0"/>
          </a:p>
        </p:txBody>
      </p:sp>
      <p:sp>
        <p:nvSpPr>
          <p:cNvPr id="6" name="Shape 4"/>
          <p:cNvSpPr/>
          <p:nvPr/>
        </p:nvSpPr>
        <p:spPr>
          <a:xfrm>
            <a:off x="274320" y="1170432"/>
            <a:ext cx="4114800" cy="1755648"/>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7" name="Text 5"/>
          <p:cNvSpPr/>
          <p:nvPr/>
        </p:nvSpPr>
        <p:spPr>
          <a:xfrm>
            <a:off x="420624" y="1225296"/>
            <a:ext cx="3822192" cy="310896"/>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Performance Summary</a:t>
            </a:r>
            <a:endParaRPr lang="en-US" sz="1200" dirty="0"/>
          </a:p>
        </p:txBody>
      </p:sp>
      <p:sp>
        <p:nvSpPr>
          <p:cNvPr id="8" name="Text 6"/>
          <p:cNvSpPr/>
          <p:nvPr/>
        </p:nvSpPr>
        <p:spPr>
          <a:xfrm>
            <a:off x="420624" y="1572768"/>
            <a:ext cx="3822192" cy="1280160"/>
          </a:xfrm>
          <a:prstGeom prst="rect">
            <a:avLst/>
          </a:prstGeom>
          <a:noFill/>
          <a:ln/>
        </p:spPr>
        <p:txBody>
          <a:bodyPr wrap="square" rtlCol="0" anchor="ctr"/>
          <a:lstStyle/>
          <a:p>
            <a:pPr algn="l" indent="0" marL="0">
              <a:spcAft>
                <a:spcPts val="500"/>
              </a:spcAft>
              <a:buNone/>
            </a:pPr>
            <a:r>
              <a:rPr lang="en-US" sz="1050" dirty="0">
                <a:solidFill>
                  <a:srgbClr val="374151"/>
                </a:solidFill>
                <a:latin typeface="Calibri" pitchFamily="34" charset="0"/>
                <a:ea typeface="Calibri" pitchFamily="34" charset="-122"/>
                <a:cs typeface="Calibri" pitchFamily="34" charset="-120"/>
              </a:rPr>
              <a:t>From a financial perspective, the bank has historically delivered strong growth in loans, deposits, and net profits. HDFC Bank has expanded its balance sheet significantly while maintaining healthy asset quality and capital adequacy ratios. The bank's return on equity (ROE) has historically remained above industry averages, supported by strong operating efficiency and prudent risk management. Its capital adequacy position also remains comfortable, with the CET1 ratio well above regulatory requirements.</a:t>
            </a:r>
            <a:endParaRPr lang="en-US" sz="1050" dirty="0"/>
          </a:p>
        </p:txBody>
      </p:sp>
      <p:graphicFrame>
        <p:nvGraphicFramePr>
          <p:cNvPr id="9" name="Chart 0" descr=""/>
          <p:cNvGraphicFramePr/>
          <p:nvPr/>
        </p:nvGraphicFramePr>
        <p:xfrm>
          <a:off x="274320" y="2999232"/>
          <a:ext cx="4114800" cy="1901952"/>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4617720" y="1170432"/>
          <a:ext cx="4251960" cy="1938528"/>
        </p:xfrm>
        <a:graphic xmlns:a="http://schemas.openxmlformats.org/drawingml/2006/main">
          <a:graphicData uri="http://schemas.openxmlformats.org/drawingml/2006/chart">
            <c:chart xmlns:c="http://schemas.openxmlformats.org/drawingml/2006/chart" r:id="rId2"/>
          </a:graphicData>
        </a:graphic>
      </p:graphicFrame>
      <p:graphicFrame>
        <p:nvGraphicFramePr>
          <p:cNvPr id="11" name="Chart 2" descr=""/>
          <p:cNvGraphicFramePr/>
          <p:nvPr/>
        </p:nvGraphicFramePr>
        <p:xfrm>
          <a:off x="4617720" y="3163824"/>
          <a:ext cx="4251960" cy="1737360"/>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F3864"/>
          </a:solidFill>
          <a:ln w="12700">
            <a:solidFill>
              <a:srgbClr val="1F3864"/>
            </a:solidFill>
            <a:prstDash val="solid"/>
          </a:ln>
        </p:spPr>
      </p:sp>
      <p:sp>
        <p:nvSpPr>
          <p:cNvPr id="3" name="Shape 1"/>
          <p:cNvSpPr/>
          <p:nvPr/>
        </p:nvSpPr>
        <p:spPr>
          <a:xfrm>
            <a:off x="0" y="1024128"/>
            <a:ext cx="9144000" cy="64008"/>
          </a:xfrm>
          <a:prstGeom prst="rect">
            <a:avLst/>
          </a:prstGeom>
          <a:solidFill>
            <a:srgbClr val="C9A84C"/>
          </a:solidFill>
          <a:ln w="12700">
            <a:solidFill>
              <a:srgbClr val="C9A84C"/>
            </a:solidFill>
            <a:prstDash val="solid"/>
          </a:ln>
        </p:spPr>
      </p:sp>
      <p:sp>
        <p:nvSpPr>
          <p:cNvPr id="4" name="Text 2"/>
          <p:cNvSpPr/>
          <p:nvPr/>
        </p:nvSpPr>
        <p:spPr>
          <a:xfrm>
            <a:off x="411480" y="54864"/>
            <a:ext cx="8321040" cy="530352"/>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CAPITAL STRENGTH &amp; ASSET QUALITY</a:t>
            </a:r>
            <a:endParaRPr lang="en-US" sz="2800" dirty="0"/>
          </a:p>
        </p:txBody>
      </p:sp>
      <p:sp>
        <p:nvSpPr>
          <p:cNvPr id="5" name="Text 3"/>
          <p:cNvSpPr/>
          <p:nvPr/>
        </p:nvSpPr>
        <p:spPr>
          <a:xfrm>
            <a:off x="411480" y="603504"/>
            <a:ext cx="8321040" cy="347472"/>
          </a:xfrm>
          <a:prstGeom prst="rect">
            <a:avLst/>
          </a:prstGeom>
          <a:noFill/>
          <a:ln/>
        </p:spPr>
        <p:txBody>
          <a:bodyPr wrap="square" rtlCol="0" anchor="ctr"/>
          <a:lstStyle/>
          <a:p>
            <a:pPr algn="l" indent="0" marL="0">
              <a:buNone/>
            </a:pPr>
            <a:r>
              <a:rPr lang="en-US" sz="1200" dirty="0">
                <a:solidFill>
                  <a:srgbClr val="D6DCE4"/>
                </a:solidFill>
                <a:latin typeface="Calibri" pitchFamily="34" charset="0"/>
                <a:ea typeface="Calibri" pitchFamily="34" charset="-122"/>
                <a:cs typeface="Calibri" pitchFamily="34" charset="-120"/>
              </a:rPr>
              <a:t>CET1 well above regulatory requirements — balance sheet built to last</a:t>
            </a:r>
            <a:endParaRPr lang="en-US" sz="1200" dirty="0"/>
          </a:p>
        </p:txBody>
      </p:sp>
      <p:sp>
        <p:nvSpPr>
          <p:cNvPr id="6" name="Shape 4"/>
          <p:cNvSpPr/>
          <p:nvPr/>
        </p:nvSpPr>
        <p:spPr>
          <a:xfrm>
            <a:off x="274320" y="1170432"/>
            <a:ext cx="5349240" cy="3730752"/>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74320" y="1170432"/>
            <a:ext cx="5349240" cy="475488"/>
          </a:xfrm>
          <a:prstGeom prst="rect">
            <a:avLst/>
          </a:prstGeom>
          <a:solidFill>
            <a:srgbClr val="1F3864"/>
          </a:solidFill>
          <a:ln w="12700">
            <a:solidFill>
              <a:srgbClr val="1F3864"/>
            </a:solidFill>
            <a:prstDash val="solid"/>
          </a:ln>
        </p:spPr>
      </p:sp>
      <p:sp>
        <p:nvSpPr>
          <p:cNvPr id="8" name="Text 6"/>
          <p:cNvSpPr/>
          <p:nvPr/>
        </p:nvSpPr>
        <p:spPr>
          <a:xfrm>
            <a:off x="420624" y="1188720"/>
            <a:ext cx="5047488" cy="420624"/>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Capital Adequacy &amp; Risk Management Framework</a:t>
            </a:r>
            <a:endParaRPr lang="en-US" sz="1250" dirty="0"/>
          </a:p>
        </p:txBody>
      </p:sp>
      <p:sp>
        <p:nvSpPr>
          <p:cNvPr id="9" name="Text 7"/>
          <p:cNvSpPr/>
          <p:nvPr/>
        </p:nvSpPr>
        <p:spPr>
          <a:xfrm>
            <a:off x="420624" y="1700784"/>
            <a:ext cx="5047488" cy="3090672"/>
          </a:xfrm>
          <a:prstGeom prst="rect">
            <a:avLst/>
          </a:prstGeom>
          <a:noFill/>
          <a:ln/>
        </p:spPr>
        <p:txBody>
          <a:bodyPr wrap="square" rtlCol="0" anchor="t"/>
          <a:lstStyle/>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HDFC Bank's capital adequacy position remains comfortable, with the Common Equity Tier 1 (CET1) ratio well above regulatory requirements, providing sufficient capacity for future balance sheet growth. The bank's prudent approach to capital management ensures it can absorb potential credit losses while continuing to grow.</a:t>
            </a:r>
            <a:endParaRPr lang="en-US" sz="1100" dirty="0"/>
          </a:p>
          <a:p>
            <a:pPr algn="l" indent="0" marL="0">
              <a:spcAft>
                <a:spcPts val="700"/>
              </a:spcAft>
              <a:buNone/>
            </a:pPr>
            <a:endParaRPr lang="en-US" sz="1100" dirty="0"/>
          </a:p>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The bank has historically delivered strong growth in loans, deposits, and net profits while maintaining healthy asset quality. HDFC Bank's Gross Non-Performing Asset (GNPA) ratio has consistently remained below the industry average, reflecting the quality of its underwriting standards and collections infrastructure.</a:t>
            </a:r>
            <a:endParaRPr lang="en-US" sz="1100" dirty="0"/>
          </a:p>
          <a:p>
            <a:pPr algn="l" indent="0" marL="0">
              <a:spcAft>
                <a:spcPts val="700"/>
              </a:spcAft>
              <a:buNone/>
            </a:pPr>
            <a:endParaRPr lang="en-US" sz="1100" dirty="0"/>
          </a:p>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The bank's return on equity (ROE) has historically remained above industry averages, supported by strong operating efficiency and prudent risk management. Cost-to-income ratios have improved over years as operating leverage plays out on a larger balance sheet.</a:t>
            </a:r>
            <a:endParaRPr lang="en-US" sz="1100" dirty="0"/>
          </a:p>
          <a:p>
            <a:pPr algn="l" indent="0" marL="0">
              <a:spcAft>
                <a:spcPts val="700"/>
              </a:spcAft>
              <a:buNone/>
            </a:pPr>
            <a:endParaRPr lang="en-US" sz="1100" dirty="0"/>
          </a:p>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HDFC Bank maintains a well-diversified loan portfolio across sectors and geographies, reducing concentration risk. Retail loans are primarily secured through collateral such as property and vehicles, while wholesale exposures are managed through robust credit monitoring processes. The Provision Coverage Ratio (PCR) has remained above 70%, providing a strong buffer against potential credit stress.</a:t>
            </a:r>
            <a:endParaRPr lang="en-US" sz="1100" dirty="0"/>
          </a:p>
        </p:txBody>
      </p:sp>
      <p:sp>
        <p:nvSpPr>
          <p:cNvPr id="10" name="Shape 8"/>
          <p:cNvSpPr/>
          <p:nvPr/>
        </p:nvSpPr>
        <p:spPr>
          <a:xfrm>
            <a:off x="5833872" y="1170432"/>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5833872" y="1170432"/>
            <a:ext cx="109728" cy="859536"/>
          </a:xfrm>
          <a:prstGeom prst="rect">
            <a:avLst/>
          </a:prstGeom>
          <a:solidFill>
            <a:srgbClr val="1E8449"/>
          </a:solidFill>
          <a:ln w="12700">
            <a:solidFill>
              <a:srgbClr val="1E8449"/>
            </a:solidFill>
            <a:prstDash val="solid"/>
          </a:ln>
        </p:spPr>
      </p:sp>
      <p:sp>
        <p:nvSpPr>
          <p:cNvPr id="12" name="Text 10"/>
          <p:cNvSpPr/>
          <p:nvPr/>
        </p:nvSpPr>
        <p:spPr>
          <a:xfrm>
            <a:off x="6016752" y="1225296"/>
            <a:ext cx="2743200" cy="237744"/>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CET1 Ratio</a:t>
            </a:r>
            <a:endParaRPr lang="en-US" sz="1000" dirty="0"/>
          </a:p>
        </p:txBody>
      </p:sp>
      <p:sp>
        <p:nvSpPr>
          <p:cNvPr id="13" name="Text 11"/>
          <p:cNvSpPr/>
          <p:nvPr/>
        </p:nvSpPr>
        <p:spPr>
          <a:xfrm>
            <a:off x="6016752" y="1444752"/>
            <a:ext cx="2743200" cy="347472"/>
          </a:xfrm>
          <a:prstGeom prst="rect">
            <a:avLst/>
          </a:prstGeom>
          <a:noFill/>
          <a:ln/>
        </p:spPr>
        <p:txBody>
          <a:bodyPr wrap="square" rtlCol="0" anchor="ctr"/>
          <a:lstStyle/>
          <a:p>
            <a:pPr indent="0" marL="0">
              <a:buNone/>
            </a:pPr>
            <a:r>
              <a:rPr lang="en-US" sz="2200" b="1" dirty="0">
                <a:solidFill>
                  <a:srgbClr val="1E8449"/>
                </a:solidFill>
                <a:latin typeface="Calibri" pitchFamily="34" charset="0"/>
                <a:ea typeface="Calibri" pitchFamily="34" charset="-122"/>
                <a:cs typeface="Calibri" pitchFamily="34" charset="-120"/>
              </a:rPr>
              <a:t>&gt;15%</a:t>
            </a:r>
            <a:endParaRPr lang="en-US" sz="2200" dirty="0"/>
          </a:p>
        </p:txBody>
      </p:sp>
      <p:sp>
        <p:nvSpPr>
          <p:cNvPr id="14" name="Text 12"/>
          <p:cNvSpPr/>
          <p:nvPr/>
        </p:nvSpPr>
        <p:spPr>
          <a:xfrm>
            <a:off x="6016752" y="1792224"/>
            <a:ext cx="2743200" cy="201168"/>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RBI min: 11.5%</a:t>
            </a:r>
            <a:endParaRPr lang="en-US" sz="950" dirty="0"/>
          </a:p>
        </p:txBody>
      </p:sp>
      <p:sp>
        <p:nvSpPr>
          <p:cNvPr id="15" name="Shape 13"/>
          <p:cNvSpPr/>
          <p:nvPr/>
        </p:nvSpPr>
        <p:spPr>
          <a:xfrm>
            <a:off x="5833872" y="2139696"/>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5833872" y="2139696"/>
            <a:ext cx="109728" cy="859536"/>
          </a:xfrm>
          <a:prstGeom prst="rect">
            <a:avLst/>
          </a:prstGeom>
          <a:solidFill>
            <a:srgbClr val="1E8449"/>
          </a:solidFill>
          <a:ln w="12700">
            <a:solidFill>
              <a:srgbClr val="1E8449"/>
            </a:solidFill>
            <a:prstDash val="solid"/>
          </a:ln>
        </p:spPr>
      </p:sp>
      <p:sp>
        <p:nvSpPr>
          <p:cNvPr id="17" name="Text 15"/>
          <p:cNvSpPr/>
          <p:nvPr/>
        </p:nvSpPr>
        <p:spPr>
          <a:xfrm>
            <a:off x="6016752" y="2194560"/>
            <a:ext cx="2743200" cy="237744"/>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Capital Adequacy (CAR)</a:t>
            </a:r>
            <a:endParaRPr lang="en-US" sz="1000" dirty="0"/>
          </a:p>
        </p:txBody>
      </p:sp>
      <p:sp>
        <p:nvSpPr>
          <p:cNvPr id="18" name="Text 16"/>
          <p:cNvSpPr/>
          <p:nvPr/>
        </p:nvSpPr>
        <p:spPr>
          <a:xfrm>
            <a:off x="6016752" y="2414016"/>
            <a:ext cx="2743200" cy="347472"/>
          </a:xfrm>
          <a:prstGeom prst="rect">
            <a:avLst/>
          </a:prstGeom>
          <a:noFill/>
          <a:ln/>
        </p:spPr>
        <p:txBody>
          <a:bodyPr wrap="square" rtlCol="0" anchor="ctr"/>
          <a:lstStyle/>
          <a:p>
            <a:pPr indent="0" marL="0">
              <a:buNone/>
            </a:pPr>
            <a:r>
              <a:rPr lang="en-US" sz="2200" b="1" dirty="0">
                <a:solidFill>
                  <a:srgbClr val="1E8449"/>
                </a:solidFill>
                <a:latin typeface="Calibri" pitchFamily="34" charset="0"/>
                <a:ea typeface="Calibri" pitchFamily="34" charset="-122"/>
                <a:cs typeface="Calibri" pitchFamily="34" charset="-120"/>
              </a:rPr>
              <a:t>&gt;18%</a:t>
            </a:r>
            <a:endParaRPr lang="en-US" sz="2200" dirty="0"/>
          </a:p>
        </p:txBody>
      </p:sp>
      <p:sp>
        <p:nvSpPr>
          <p:cNvPr id="19" name="Text 17"/>
          <p:cNvSpPr/>
          <p:nvPr/>
        </p:nvSpPr>
        <p:spPr>
          <a:xfrm>
            <a:off x="6016752" y="2761488"/>
            <a:ext cx="2743200" cy="201168"/>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Well capitalized</a:t>
            </a:r>
            <a:endParaRPr lang="en-US" sz="950" dirty="0"/>
          </a:p>
        </p:txBody>
      </p:sp>
      <p:sp>
        <p:nvSpPr>
          <p:cNvPr id="20" name="Shape 18"/>
          <p:cNvSpPr/>
          <p:nvPr/>
        </p:nvSpPr>
        <p:spPr>
          <a:xfrm>
            <a:off x="5833872" y="3108960"/>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5833872" y="3108960"/>
            <a:ext cx="109728" cy="859536"/>
          </a:xfrm>
          <a:prstGeom prst="rect">
            <a:avLst/>
          </a:prstGeom>
          <a:solidFill>
            <a:srgbClr val="1F3864"/>
          </a:solidFill>
          <a:ln w="12700">
            <a:solidFill>
              <a:srgbClr val="1F3864"/>
            </a:solidFill>
            <a:prstDash val="solid"/>
          </a:ln>
        </p:spPr>
      </p:sp>
      <p:sp>
        <p:nvSpPr>
          <p:cNvPr id="22" name="Text 20"/>
          <p:cNvSpPr/>
          <p:nvPr/>
        </p:nvSpPr>
        <p:spPr>
          <a:xfrm>
            <a:off x="6016752" y="3163824"/>
            <a:ext cx="2743200" cy="237744"/>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GNPA Ratio (FY25)</a:t>
            </a:r>
            <a:endParaRPr lang="en-US" sz="1000" dirty="0"/>
          </a:p>
        </p:txBody>
      </p:sp>
      <p:sp>
        <p:nvSpPr>
          <p:cNvPr id="23" name="Text 21"/>
          <p:cNvSpPr/>
          <p:nvPr/>
        </p:nvSpPr>
        <p:spPr>
          <a:xfrm>
            <a:off x="6016752" y="3383280"/>
            <a:ext cx="2743200" cy="347472"/>
          </a:xfrm>
          <a:prstGeom prst="rect">
            <a:avLst/>
          </a:prstGeom>
          <a:noFill/>
          <a:ln/>
        </p:spPr>
        <p:txBody>
          <a:bodyPr wrap="square"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~1.3%</a:t>
            </a:r>
            <a:endParaRPr lang="en-US" sz="2200" dirty="0"/>
          </a:p>
        </p:txBody>
      </p:sp>
      <p:sp>
        <p:nvSpPr>
          <p:cNvPr id="24" name="Text 22"/>
          <p:cNvSpPr/>
          <p:nvPr/>
        </p:nvSpPr>
        <p:spPr>
          <a:xfrm>
            <a:off x="6016752" y="3730752"/>
            <a:ext cx="2743200" cy="201168"/>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Below industry avg</a:t>
            </a:r>
            <a:endParaRPr lang="en-US" sz="950" dirty="0"/>
          </a:p>
        </p:txBody>
      </p:sp>
      <p:sp>
        <p:nvSpPr>
          <p:cNvPr id="25" name="Shape 23"/>
          <p:cNvSpPr/>
          <p:nvPr/>
        </p:nvSpPr>
        <p:spPr>
          <a:xfrm>
            <a:off x="5833872" y="4078224"/>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5833872" y="4078224"/>
            <a:ext cx="109728" cy="859536"/>
          </a:xfrm>
          <a:prstGeom prst="rect">
            <a:avLst/>
          </a:prstGeom>
          <a:solidFill>
            <a:srgbClr val="2E4A8A"/>
          </a:solidFill>
          <a:ln w="12700">
            <a:solidFill>
              <a:srgbClr val="2E4A8A"/>
            </a:solidFill>
            <a:prstDash val="solid"/>
          </a:ln>
        </p:spPr>
      </p:sp>
      <p:sp>
        <p:nvSpPr>
          <p:cNvPr id="27" name="Text 25"/>
          <p:cNvSpPr/>
          <p:nvPr/>
        </p:nvSpPr>
        <p:spPr>
          <a:xfrm>
            <a:off x="6016752" y="4133088"/>
            <a:ext cx="2743200" cy="237744"/>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Provision Coverage</a:t>
            </a:r>
            <a:endParaRPr lang="en-US" sz="1000" dirty="0"/>
          </a:p>
        </p:txBody>
      </p:sp>
      <p:sp>
        <p:nvSpPr>
          <p:cNvPr id="28" name="Text 26"/>
          <p:cNvSpPr/>
          <p:nvPr/>
        </p:nvSpPr>
        <p:spPr>
          <a:xfrm>
            <a:off x="6016752" y="4352544"/>
            <a:ext cx="2743200" cy="347472"/>
          </a:xfrm>
          <a:prstGeom prst="rect">
            <a:avLst/>
          </a:prstGeom>
          <a:noFill/>
          <a:ln/>
        </p:spPr>
        <p:txBody>
          <a:bodyPr wrap="square" rtlCol="0" anchor="ctr"/>
          <a:lstStyle/>
          <a:p>
            <a:pPr indent="0" marL="0">
              <a:buNone/>
            </a:pPr>
            <a:r>
              <a:rPr lang="en-US" sz="2200" b="1" dirty="0">
                <a:solidFill>
                  <a:srgbClr val="2E4A8A"/>
                </a:solidFill>
                <a:latin typeface="Calibri" pitchFamily="34" charset="0"/>
                <a:ea typeface="Calibri" pitchFamily="34" charset="-122"/>
                <a:cs typeface="Calibri" pitchFamily="34" charset="-120"/>
              </a:rPr>
              <a:t>&gt;70%</a:t>
            </a:r>
            <a:endParaRPr lang="en-US" sz="2200" dirty="0"/>
          </a:p>
        </p:txBody>
      </p:sp>
      <p:sp>
        <p:nvSpPr>
          <p:cNvPr id="29" name="Text 27"/>
          <p:cNvSpPr/>
          <p:nvPr/>
        </p:nvSpPr>
        <p:spPr>
          <a:xfrm>
            <a:off x="6016752" y="4700016"/>
            <a:ext cx="2743200" cy="201168"/>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Strong credit buffer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F3864"/>
          </a:solidFill>
          <a:ln w="12700">
            <a:solidFill>
              <a:srgbClr val="1F3864"/>
            </a:solidFill>
            <a:prstDash val="solid"/>
          </a:ln>
        </p:spPr>
      </p:sp>
      <p:sp>
        <p:nvSpPr>
          <p:cNvPr id="3" name="Shape 1"/>
          <p:cNvSpPr/>
          <p:nvPr/>
        </p:nvSpPr>
        <p:spPr>
          <a:xfrm>
            <a:off x="0" y="1024128"/>
            <a:ext cx="9144000" cy="64008"/>
          </a:xfrm>
          <a:prstGeom prst="rect">
            <a:avLst/>
          </a:prstGeom>
          <a:solidFill>
            <a:srgbClr val="C9A84C"/>
          </a:solidFill>
          <a:ln w="12700">
            <a:solidFill>
              <a:srgbClr val="C9A84C"/>
            </a:solidFill>
            <a:prstDash val="solid"/>
          </a:ln>
        </p:spPr>
      </p:sp>
      <p:sp>
        <p:nvSpPr>
          <p:cNvPr id="4" name="Text 2"/>
          <p:cNvSpPr/>
          <p:nvPr/>
        </p:nvSpPr>
        <p:spPr>
          <a:xfrm>
            <a:off x="411480" y="54864"/>
            <a:ext cx="8321040" cy="530352"/>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INDUSTRY TAILWINDS &amp; MACRO BACKDROP</a:t>
            </a:r>
            <a:endParaRPr lang="en-US" sz="2800" dirty="0"/>
          </a:p>
        </p:txBody>
      </p:sp>
      <p:sp>
        <p:nvSpPr>
          <p:cNvPr id="5" name="Text 3"/>
          <p:cNvSpPr/>
          <p:nvPr/>
        </p:nvSpPr>
        <p:spPr>
          <a:xfrm>
            <a:off x="411480" y="603504"/>
            <a:ext cx="8321040" cy="347472"/>
          </a:xfrm>
          <a:prstGeom prst="rect">
            <a:avLst/>
          </a:prstGeom>
          <a:noFill/>
          <a:ln/>
        </p:spPr>
        <p:txBody>
          <a:bodyPr wrap="square" rtlCol="0" anchor="ctr"/>
          <a:lstStyle/>
          <a:p>
            <a:pPr algn="l" indent="0" marL="0">
              <a:buNone/>
            </a:pPr>
            <a:r>
              <a:rPr lang="en-US" sz="1200" dirty="0">
                <a:solidFill>
                  <a:srgbClr val="D6DCE4"/>
                </a:solidFill>
                <a:latin typeface="Calibri" pitchFamily="34" charset="0"/>
                <a:ea typeface="Calibri" pitchFamily="34" charset="-122"/>
                <a:cs typeface="Calibri" pitchFamily="34" charset="-120"/>
              </a:rPr>
              <a:t>India's banking sector poised for a decade of structural growth</a:t>
            </a:r>
            <a:endParaRPr lang="en-US" sz="1200" dirty="0"/>
          </a:p>
        </p:txBody>
      </p:sp>
      <p:sp>
        <p:nvSpPr>
          <p:cNvPr id="6" name="Shape 4"/>
          <p:cNvSpPr/>
          <p:nvPr/>
        </p:nvSpPr>
        <p:spPr>
          <a:xfrm>
            <a:off x="274320" y="1170432"/>
            <a:ext cx="5349240" cy="3730752"/>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74320" y="1170432"/>
            <a:ext cx="5349240" cy="475488"/>
          </a:xfrm>
          <a:prstGeom prst="rect">
            <a:avLst/>
          </a:prstGeom>
          <a:solidFill>
            <a:srgbClr val="2E4A8A"/>
          </a:solidFill>
          <a:ln w="12700">
            <a:solidFill>
              <a:srgbClr val="2E4A8A"/>
            </a:solidFill>
            <a:prstDash val="solid"/>
          </a:ln>
        </p:spPr>
      </p:sp>
      <p:sp>
        <p:nvSpPr>
          <p:cNvPr id="8" name="Text 6"/>
          <p:cNvSpPr/>
          <p:nvPr/>
        </p:nvSpPr>
        <p:spPr>
          <a:xfrm>
            <a:off x="420624" y="1188720"/>
            <a:ext cx="5047488" cy="42062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 India's Banking Sector Has Structural Tailwinds</a:t>
            </a:r>
            <a:endParaRPr lang="en-US" sz="1200" dirty="0"/>
          </a:p>
        </p:txBody>
      </p:sp>
      <p:sp>
        <p:nvSpPr>
          <p:cNvPr id="9" name="Text 7"/>
          <p:cNvSpPr/>
          <p:nvPr/>
        </p:nvSpPr>
        <p:spPr>
          <a:xfrm>
            <a:off x="420624" y="1700784"/>
            <a:ext cx="5047488" cy="3090672"/>
          </a:xfrm>
          <a:prstGeom prst="rect">
            <a:avLst/>
          </a:prstGeom>
          <a:noFill/>
          <a:ln/>
        </p:spPr>
        <p:txBody>
          <a:bodyPr wrap="square" rtlCol="0" anchor="t"/>
          <a:lstStyle/>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The banking sector in India continues to benefit from structural tailwinds including increasing credit penetration, rising digital adoption, financial inclusion initiatives, and broad-based economic growth. India's credit-to-GDP ratio stands at approximately 57%, compared to a global average of over 100%, indicating significant headroom for credit expansion over the coming decade.</a:t>
            </a:r>
            <a:endParaRPr lang="en-US" sz="1100" dirty="0"/>
          </a:p>
          <a:p>
            <a:pPr algn="l" indent="0" marL="0">
              <a:spcAft>
                <a:spcPts val="700"/>
              </a:spcAft>
              <a:buNone/>
            </a:pPr>
            <a:endParaRPr lang="en-US" sz="1100" dirty="0"/>
          </a:p>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HDFC Bank is well positioned to benefit from these long-term trends due to its strong brand, extensive branch network, digital infrastructure, and diversified product portfolio. The bank has also invested heavily in technology and digital platforms to enhance customer experience and expand distribution channels, enabling it to compete effectively in an evolving financial services landscape.</a:t>
            </a:r>
            <a:endParaRPr lang="en-US" sz="1100" dirty="0"/>
          </a:p>
          <a:p>
            <a:pPr algn="l" indent="0" marL="0">
              <a:spcAft>
                <a:spcPts val="700"/>
              </a:spcAft>
              <a:buNone/>
            </a:pPr>
            <a:endParaRPr lang="en-US" sz="1100" dirty="0"/>
          </a:p>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Key macroeconomic factors supporting growth include India's ~7% nominal GDP growth trajectory, increasing financial inclusion through government-led initiatives (PM Jan Dhan Yojana), rising mortgage penetration in the residential real estate sector, and the rapid formalization of the economy driving demand for institutional credit.</a:t>
            </a:r>
            <a:endParaRPr lang="en-US" sz="1100" dirty="0"/>
          </a:p>
          <a:p>
            <a:pPr algn="l" indent="0" marL="0">
              <a:spcAft>
                <a:spcPts val="700"/>
              </a:spcAft>
              <a:buNone/>
            </a:pPr>
            <a:endParaRPr lang="en-US" sz="1100" dirty="0"/>
          </a:p>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The digital payments revolution — with UPI processing over 131 billion transactions in FY24 — is expanding the addressable market for digital lending and cross-selling of financial products. HDFC Bank's early investment in digital infrastructure positions it to capture this expanding market.</a:t>
            </a:r>
            <a:endParaRPr lang="en-US" sz="1100" dirty="0"/>
          </a:p>
        </p:txBody>
      </p:sp>
      <p:sp>
        <p:nvSpPr>
          <p:cNvPr id="10" name="Shape 8"/>
          <p:cNvSpPr/>
          <p:nvPr/>
        </p:nvSpPr>
        <p:spPr>
          <a:xfrm>
            <a:off x="5833872" y="1170432"/>
            <a:ext cx="3035808" cy="859536"/>
          </a:xfrm>
          <a:prstGeom prst="rect">
            <a:avLst/>
          </a:prstGeom>
          <a:solidFill>
            <a:srgbClr val="1F3864"/>
          </a:solidFill>
          <a:ln w="12700">
            <a:solidFill>
              <a:srgbClr val="1F3864"/>
            </a:solidFill>
            <a:prstDash val="solid"/>
          </a:ln>
          <a:effectLst>
            <a:outerShdw sx="100000" sy="100000" kx="0" ky="0" algn="bl" rotWithShape="0" blurRad="101600" dist="38100" dir="8100000">
              <a:srgbClr val="000000">
                <a:alpha val="10000"/>
              </a:srgbClr>
            </a:outerShdw>
          </a:effectLst>
        </p:spPr>
      </p:sp>
      <p:pic>
        <p:nvPicPr>
          <p:cNvPr id="11" name="Image 0" descr="preencoded.png">    </p:cNvPr>
          <p:cNvPicPr>
            <a:picLocks noChangeAspect="1"/>
          </p:cNvPicPr>
          <p:nvPr/>
        </p:nvPicPr>
        <p:blipFill>
          <a:blip r:embed="rId1"/>
          <a:stretch>
            <a:fillRect/>
          </a:stretch>
        </p:blipFill>
        <p:spPr>
          <a:xfrm>
            <a:off x="5907024" y="1399032"/>
            <a:ext cx="329184" cy="329184"/>
          </a:xfrm>
          <a:prstGeom prst="rect">
            <a:avLst/>
          </a:prstGeom>
        </p:spPr>
      </p:pic>
      <p:sp>
        <p:nvSpPr>
          <p:cNvPr id="12" name="Text 9"/>
          <p:cNvSpPr/>
          <p:nvPr/>
        </p:nvSpPr>
        <p:spPr>
          <a:xfrm>
            <a:off x="6309360" y="1225296"/>
            <a:ext cx="2468880" cy="256032"/>
          </a:xfrm>
          <a:prstGeom prst="rect">
            <a:avLst/>
          </a:prstGeom>
          <a:noFill/>
          <a:ln/>
        </p:spPr>
        <p:txBody>
          <a:bodyPr wrap="square" rtlCol="0" anchor="ctr"/>
          <a:lstStyle/>
          <a:p>
            <a:pPr indent="0" marL="0">
              <a:buNone/>
            </a:pPr>
            <a:r>
              <a:rPr lang="en-US" sz="1000" dirty="0">
                <a:solidFill>
                  <a:srgbClr val="D6DCE4"/>
                </a:solidFill>
                <a:latin typeface="Calibri" pitchFamily="34" charset="0"/>
                <a:ea typeface="Calibri" pitchFamily="34" charset="-122"/>
                <a:cs typeface="Calibri" pitchFamily="34" charset="-120"/>
              </a:rPr>
              <a:t>Credit/GDP Gap</a:t>
            </a:r>
            <a:endParaRPr lang="en-US" sz="1000" dirty="0"/>
          </a:p>
        </p:txBody>
      </p:sp>
      <p:sp>
        <p:nvSpPr>
          <p:cNvPr id="13" name="Text 10"/>
          <p:cNvSpPr/>
          <p:nvPr/>
        </p:nvSpPr>
        <p:spPr>
          <a:xfrm>
            <a:off x="6309360" y="1444752"/>
            <a:ext cx="2468880" cy="329184"/>
          </a:xfrm>
          <a:prstGeom prst="rect">
            <a:avLst/>
          </a:prstGeom>
          <a:noFill/>
          <a:ln/>
        </p:spPr>
        <p:txBody>
          <a:bodyPr wrap="square" rtlCol="0" anchor="ctr"/>
          <a:lstStyle/>
          <a:p>
            <a:pPr indent="0" marL="0">
              <a:buNone/>
            </a:pPr>
            <a:r>
              <a:rPr lang="en-US" sz="1600" b="1" dirty="0">
                <a:solidFill>
                  <a:srgbClr val="C9A84C"/>
                </a:solidFill>
                <a:latin typeface="Calibri" pitchFamily="34" charset="0"/>
                <a:ea typeface="Calibri" pitchFamily="34" charset="-122"/>
                <a:cs typeface="Calibri" pitchFamily="34" charset="-120"/>
              </a:rPr>
              <a:t>57% vs 100%+</a:t>
            </a:r>
            <a:endParaRPr lang="en-US" sz="1600" dirty="0"/>
          </a:p>
        </p:txBody>
      </p:sp>
      <p:sp>
        <p:nvSpPr>
          <p:cNvPr id="14" name="Text 11"/>
          <p:cNvSpPr/>
          <p:nvPr/>
        </p:nvSpPr>
        <p:spPr>
          <a:xfrm>
            <a:off x="6309360" y="1773936"/>
            <a:ext cx="2468880" cy="219456"/>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Massive room to grow</a:t>
            </a:r>
            <a:endParaRPr lang="en-US" sz="950" dirty="0"/>
          </a:p>
        </p:txBody>
      </p:sp>
      <p:sp>
        <p:nvSpPr>
          <p:cNvPr id="15" name="Shape 12"/>
          <p:cNvSpPr/>
          <p:nvPr/>
        </p:nvSpPr>
        <p:spPr>
          <a:xfrm>
            <a:off x="5833872" y="2139696"/>
            <a:ext cx="3035808" cy="859536"/>
          </a:xfrm>
          <a:prstGeom prst="rect">
            <a:avLst/>
          </a:prstGeom>
          <a:solidFill>
            <a:srgbClr val="2E4A8A"/>
          </a:solidFill>
          <a:ln w="12700">
            <a:solidFill>
              <a:srgbClr val="2E4A8A"/>
            </a:solidFill>
            <a:prstDash val="solid"/>
          </a:ln>
          <a:effectLst>
            <a:outerShdw sx="100000" sy="100000" kx="0" ky="0" algn="bl" rotWithShape="0" blurRad="101600" dist="38100" dir="8100000">
              <a:srgbClr val="000000">
                <a:alpha val="10000"/>
              </a:srgbClr>
            </a:outerShdw>
          </a:effectLst>
        </p:spPr>
      </p:sp>
      <p:pic>
        <p:nvPicPr>
          <p:cNvPr id="16" name="Image 1" descr="preencoded.png">    </p:cNvPr>
          <p:cNvPicPr>
            <a:picLocks noChangeAspect="1"/>
          </p:cNvPicPr>
          <p:nvPr/>
        </p:nvPicPr>
        <p:blipFill>
          <a:blip r:embed="rId2"/>
          <a:stretch>
            <a:fillRect/>
          </a:stretch>
        </p:blipFill>
        <p:spPr>
          <a:xfrm>
            <a:off x="5907024" y="2368296"/>
            <a:ext cx="329184" cy="329184"/>
          </a:xfrm>
          <a:prstGeom prst="rect">
            <a:avLst/>
          </a:prstGeom>
        </p:spPr>
      </p:pic>
      <p:sp>
        <p:nvSpPr>
          <p:cNvPr id="17" name="Text 13"/>
          <p:cNvSpPr/>
          <p:nvPr/>
        </p:nvSpPr>
        <p:spPr>
          <a:xfrm>
            <a:off x="6309360" y="2194560"/>
            <a:ext cx="2468880" cy="256032"/>
          </a:xfrm>
          <a:prstGeom prst="rect">
            <a:avLst/>
          </a:prstGeom>
          <a:noFill/>
          <a:ln/>
        </p:spPr>
        <p:txBody>
          <a:bodyPr wrap="square" rtlCol="0" anchor="ctr"/>
          <a:lstStyle/>
          <a:p>
            <a:pPr indent="0" marL="0">
              <a:buNone/>
            </a:pPr>
            <a:r>
              <a:rPr lang="en-US" sz="1000" dirty="0">
                <a:solidFill>
                  <a:srgbClr val="D6DCE4"/>
                </a:solidFill>
                <a:latin typeface="Calibri" pitchFamily="34" charset="0"/>
                <a:ea typeface="Calibri" pitchFamily="34" charset="-122"/>
                <a:cs typeface="Calibri" pitchFamily="34" charset="-120"/>
              </a:rPr>
              <a:t>GDP Growth</a:t>
            </a:r>
            <a:endParaRPr lang="en-US" sz="1000" dirty="0"/>
          </a:p>
        </p:txBody>
      </p:sp>
      <p:sp>
        <p:nvSpPr>
          <p:cNvPr id="18" name="Text 14"/>
          <p:cNvSpPr/>
          <p:nvPr/>
        </p:nvSpPr>
        <p:spPr>
          <a:xfrm>
            <a:off x="6309360" y="2414016"/>
            <a:ext cx="2468880" cy="329184"/>
          </a:xfrm>
          <a:prstGeom prst="rect">
            <a:avLst/>
          </a:prstGeom>
          <a:noFill/>
          <a:ln/>
        </p:spPr>
        <p:txBody>
          <a:bodyPr wrap="square" rtlCol="0" anchor="ctr"/>
          <a:lstStyle/>
          <a:p>
            <a:pPr indent="0" marL="0">
              <a:buNone/>
            </a:pPr>
            <a:r>
              <a:rPr lang="en-US" sz="1600" b="1" dirty="0">
                <a:solidFill>
                  <a:srgbClr val="C9A84C"/>
                </a:solidFill>
                <a:latin typeface="Calibri" pitchFamily="34" charset="0"/>
                <a:ea typeface="Calibri" pitchFamily="34" charset="-122"/>
                <a:cs typeface="Calibri" pitchFamily="34" charset="-120"/>
              </a:rPr>
              <a:t>~7% CAGR</a:t>
            </a:r>
            <a:endParaRPr lang="en-US" sz="1600" dirty="0"/>
          </a:p>
        </p:txBody>
      </p:sp>
      <p:sp>
        <p:nvSpPr>
          <p:cNvPr id="19" name="Text 15"/>
          <p:cNvSpPr/>
          <p:nvPr/>
        </p:nvSpPr>
        <p:spPr>
          <a:xfrm>
            <a:off x="6309360" y="2743200"/>
            <a:ext cx="2468880" cy="219456"/>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Credit grows 2x nominal GDP</a:t>
            </a:r>
            <a:endParaRPr lang="en-US" sz="950" dirty="0"/>
          </a:p>
        </p:txBody>
      </p:sp>
      <p:sp>
        <p:nvSpPr>
          <p:cNvPr id="20" name="Shape 16"/>
          <p:cNvSpPr/>
          <p:nvPr/>
        </p:nvSpPr>
        <p:spPr>
          <a:xfrm>
            <a:off x="5833872" y="3108960"/>
            <a:ext cx="3035808" cy="859536"/>
          </a:xfrm>
          <a:prstGeom prst="rect">
            <a:avLst/>
          </a:prstGeom>
          <a:solidFill>
            <a:srgbClr val="4472C4"/>
          </a:solidFill>
          <a:ln w="12700">
            <a:solidFill>
              <a:srgbClr val="4472C4"/>
            </a:solidFill>
            <a:prstDash val="solid"/>
          </a:ln>
          <a:effectLst>
            <a:outerShdw sx="100000" sy="100000" kx="0" ky="0" algn="bl" rotWithShape="0" blurRad="101600" dist="38100" dir="8100000">
              <a:srgbClr val="000000">
                <a:alpha val="10000"/>
              </a:srgbClr>
            </a:outerShdw>
          </a:effectLst>
        </p:spPr>
      </p:sp>
      <p:pic>
        <p:nvPicPr>
          <p:cNvPr id="21" name="Image 2" descr="preencoded.png">    </p:cNvPr>
          <p:cNvPicPr>
            <a:picLocks noChangeAspect="1"/>
          </p:cNvPicPr>
          <p:nvPr/>
        </p:nvPicPr>
        <p:blipFill>
          <a:blip r:embed="rId3"/>
          <a:stretch>
            <a:fillRect/>
          </a:stretch>
        </p:blipFill>
        <p:spPr>
          <a:xfrm>
            <a:off x="5907024" y="3337560"/>
            <a:ext cx="329184" cy="329184"/>
          </a:xfrm>
          <a:prstGeom prst="rect">
            <a:avLst/>
          </a:prstGeom>
        </p:spPr>
      </p:pic>
      <p:sp>
        <p:nvSpPr>
          <p:cNvPr id="22" name="Text 17"/>
          <p:cNvSpPr/>
          <p:nvPr/>
        </p:nvSpPr>
        <p:spPr>
          <a:xfrm>
            <a:off x="6309360" y="3163824"/>
            <a:ext cx="2468880" cy="256032"/>
          </a:xfrm>
          <a:prstGeom prst="rect">
            <a:avLst/>
          </a:prstGeom>
          <a:noFill/>
          <a:ln/>
        </p:spPr>
        <p:txBody>
          <a:bodyPr wrap="square" rtlCol="0" anchor="ctr"/>
          <a:lstStyle/>
          <a:p>
            <a:pPr indent="0" marL="0">
              <a:buNone/>
            </a:pPr>
            <a:r>
              <a:rPr lang="en-US" sz="1000" dirty="0">
                <a:solidFill>
                  <a:srgbClr val="D6DCE4"/>
                </a:solidFill>
                <a:latin typeface="Calibri" pitchFamily="34" charset="0"/>
                <a:ea typeface="Calibri" pitchFamily="34" charset="-122"/>
                <a:cs typeface="Calibri" pitchFamily="34" charset="-120"/>
              </a:rPr>
              <a:t>UPI Scale</a:t>
            </a:r>
            <a:endParaRPr lang="en-US" sz="1000" dirty="0"/>
          </a:p>
        </p:txBody>
      </p:sp>
      <p:sp>
        <p:nvSpPr>
          <p:cNvPr id="23" name="Text 18"/>
          <p:cNvSpPr/>
          <p:nvPr/>
        </p:nvSpPr>
        <p:spPr>
          <a:xfrm>
            <a:off x="6309360" y="3383280"/>
            <a:ext cx="2468880" cy="329184"/>
          </a:xfrm>
          <a:prstGeom prst="rect">
            <a:avLst/>
          </a:prstGeom>
          <a:noFill/>
          <a:ln/>
        </p:spPr>
        <p:txBody>
          <a:bodyPr wrap="square" rtlCol="0" anchor="ctr"/>
          <a:lstStyle/>
          <a:p>
            <a:pPr indent="0" marL="0">
              <a:buNone/>
            </a:pPr>
            <a:r>
              <a:rPr lang="en-US" sz="1600" b="1" dirty="0">
                <a:solidFill>
                  <a:srgbClr val="C9A84C"/>
                </a:solidFill>
                <a:latin typeface="Calibri" pitchFamily="34" charset="0"/>
                <a:ea typeface="Calibri" pitchFamily="34" charset="-122"/>
                <a:cs typeface="Calibri" pitchFamily="34" charset="-120"/>
              </a:rPr>
              <a:t>131 Bn Txns</a:t>
            </a:r>
            <a:endParaRPr lang="en-US" sz="1600" dirty="0"/>
          </a:p>
        </p:txBody>
      </p:sp>
      <p:sp>
        <p:nvSpPr>
          <p:cNvPr id="24" name="Text 19"/>
          <p:cNvSpPr/>
          <p:nvPr/>
        </p:nvSpPr>
        <p:spPr>
          <a:xfrm>
            <a:off x="6309360" y="3712464"/>
            <a:ext cx="2468880" cy="219456"/>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Digital distribution moat</a:t>
            </a:r>
            <a:endParaRPr lang="en-US" sz="950" dirty="0"/>
          </a:p>
        </p:txBody>
      </p:sp>
      <p:sp>
        <p:nvSpPr>
          <p:cNvPr id="25" name="Shape 20"/>
          <p:cNvSpPr/>
          <p:nvPr/>
        </p:nvSpPr>
        <p:spPr>
          <a:xfrm>
            <a:off x="5833872" y="4078224"/>
            <a:ext cx="3035808" cy="859536"/>
          </a:xfrm>
          <a:prstGeom prst="rect">
            <a:avLst/>
          </a:prstGeom>
          <a:solidFill>
            <a:srgbClr val="1F3864"/>
          </a:solidFill>
          <a:ln w="12700">
            <a:solidFill>
              <a:srgbClr val="1F3864"/>
            </a:solidFill>
            <a:prstDash val="solid"/>
          </a:ln>
          <a:effectLst>
            <a:outerShdw sx="100000" sy="100000" kx="0" ky="0" algn="bl" rotWithShape="0" blurRad="101600" dist="38100" dir="8100000">
              <a:srgbClr val="000000">
                <a:alpha val="10000"/>
              </a:srgbClr>
            </a:outerShdw>
          </a:effectLst>
        </p:spPr>
      </p:sp>
      <p:pic>
        <p:nvPicPr>
          <p:cNvPr id="26" name="Image 3" descr="preencoded.png">    </p:cNvPr>
          <p:cNvPicPr>
            <a:picLocks noChangeAspect="1"/>
          </p:cNvPicPr>
          <p:nvPr/>
        </p:nvPicPr>
        <p:blipFill>
          <a:blip r:embed="rId4"/>
          <a:stretch>
            <a:fillRect/>
          </a:stretch>
        </p:blipFill>
        <p:spPr>
          <a:xfrm>
            <a:off x="5907024" y="4306824"/>
            <a:ext cx="329184" cy="329184"/>
          </a:xfrm>
          <a:prstGeom prst="rect">
            <a:avLst/>
          </a:prstGeom>
        </p:spPr>
      </p:pic>
      <p:sp>
        <p:nvSpPr>
          <p:cNvPr id="27" name="Text 21"/>
          <p:cNvSpPr/>
          <p:nvPr/>
        </p:nvSpPr>
        <p:spPr>
          <a:xfrm>
            <a:off x="6309360" y="4133088"/>
            <a:ext cx="2468880" cy="256032"/>
          </a:xfrm>
          <a:prstGeom prst="rect">
            <a:avLst/>
          </a:prstGeom>
          <a:noFill/>
          <a:ln/>
        </p:spPr>
        <p:txBody>
          <a:bodyPr wrap="square" rtlCol="0" anchor="ctr"/>
          <a:lstStyle/>
          <a:p>
            <a:pPr indent="0" marL="0">
              <a:buNone/>
            </a:pPr>
            <a:r>
              <a:rPr lang="en-US" sz="1000" dirty="0">
                <a:solidFill>
                  <a:srgbClr val="D6DCE4"/>
                </a:solidFill>
                <a:latin typeface="Calibri" pitchFamily="34" charset="0"/>
                <a:ea typeface="Calibri" pitchFamily="34" charset="-122"/>
                <a:cs typeface="Calibri" pitchFamily="34" charset="-120"/>
              </a:rPr>
              <a:t>Financial Incl.</a:t>
            </a:r>
            <a:endParaRPr lang="en-US" sz="1000" dirty="0"/>
          </a:p>
        </p:txBody>
      </p:sp>
      <p:sp>
        <p:nvSpPr>
          <p:cNvPr id="28" name="Text 22"/>
          <p:cNvSpPr/>
          <p:nvPr/>
        </p:nvSpPr>
        <p:spPr>
          <a:xfrm>
            <a:off x="6309360" y="4352544"/>
            <a:ext cx="2468880" cy="329184"/>
          </a:xfrm>
          <a:prstGeom prst="rect">
            <a:avLst/>
          </a:prstGeom>
          <a:noFill/>
          <a:ln/>
        </p:spPr>
        <p:txBody>
          <a:bodyPr wrap="square" rtlCol="0" anchor="ctr"/>
          <a:lstStyle/>
          <a:p>
            <a:pPr indent="0" marL="0">
              <a:buNone/>
            </a:pPr>
            <a:r>
              <a:rPr lang="en-US" sz="1600" b="1" dirty="0">
                <a:solidFill>
                  <a:srgbClr val="C9A84C"/>
                </a:solidFill>
                <a:latin typeface="Calibri" pitchFamily="34" charset="0"/>
                <a:ea typeface="Calibri" pitchFamily="34" charset="-122"/>
                <a:cs typeface="Calibri" pitchFamily="34" charset="-120"/>
              </a:rPr>
              <a:t>550M+ accounts</a:t>
            </a:r>
            <a:endParaRPr lang="en-US" sz="1600" dirty="0"/>
          </a:p>
        </p:txBody>
      </p:sp>
      <p:sp>
        <p:nvSpPr>
          <p:cNvPr id="29" name="Text 23"/>
          <p:cNvSpPr/>
          <p:nvPr/>
        </p:nvSpPr>
        <p:spPr>
          <a:xfrm>
            <a:off x="6309360" y="4681728"/>
            <a:ext cx="2468880" cy="219456"/>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Expanding addressable market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F3864"/>
          </a:solidFill>
          <a:ln w="12700">
            <a:solidFill>
              <a:srgbClr val="1F3864"/>
            </a:solidFill>
            <a:prstDash val="solid"/>
          </a:ln>
        </p:spPr>
      </p:sp>
      <p:sp>
        <p:nvSpPr>
          <p:cNvPr id="3" name="Shape 1"/>
          <p:cNvSpPr/>
          <p:nvPr/>
        </p:nvSpPr>
        <p:spPr>
          <a:xfrm>
            <a:off x="0" y="1024128"/>
            <a:ext cx="9144000" cy="64008"/>
          </a:xfrm>
          <a:prstGeom prst="rect">
            <a:avLst/>
          </a:prstGeom>
          <a:solidFill>
            <a:srgbClr val="C9A84C"/>
          </a:solidFill>
          <a:ln w="12700">
            <a:solidFill>
              <a:srgbClr val="C9A84C"/>
            </a:solidFill>
            <a:prstDash val="solid"/>
          </a:ln>
        </p:spPr>
      </p:sp>
      <p:sp>
        <p:nvSpPr>
          <p:cNvPr id="4" name="Text 2"/>
          <p:cNvSpPr/>
          <p:nvPr/>
        </p:nvSpPr>
        <p:spPr>
          <a:xfrm>
            <a:off x="411480" y="54864"/>
            <a:ext cx="8321040" cy="530352"/>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GROWTH STRATEGY &amp; DIGITAL TRANSFORMATION</a:t>
            </a:r>
            <a:endParaRPr lang="en-US" sz="2800" dirty="0"/>
          </a:p>
        </p:txBody>
      </p:sp>
      <p:sp>
        <p:nvSpPr>
          <p:cNvPr id="5" name="Text 3"/>
          <p:cNvSpPr/>
          <p:nvPr/>
        </p:nvSpPr>
        <p:spPr>
          <a:xfrm>
            <a:off x="411480" y="603504"/>
            <a:ext cx="8321040" cy="347472"/>
          </a:xfrm>
          <a:prstGeom prst="rect">
            <a:avLst/>
          </a:prstGeom>
          <a:noFill/>
          <a:ln/>
        </p:spPr>
        <p:txBody>
          <a:bodyPr wrap="square" rtlCol="0" anchor="ctr"/>
          <a:lstStyle/>
          <a:p>
            <a:pPr algn="l" indent="0" marL="0">
              <a:buNone/>
            </a:pPr>
            <a:r>
              <a:rPr lang="en-US" sz="1200" dirty="0">
                <a:solidFill>
                  <a:srgbClr val="D6DCE4"/>
                </a:solidFill>
                <a:latin typeface="Calibri" pitchFamily="34" charset="0"/>
                <a:ea typeface="Calibri" pitchFamily="34" charset="-122"/>
                <a:cs typeface="Calibri" pitchFamily="34" charset="-120"/>
              </a:rPr>
              <a:t>Profitable growth through retail expansion, digital banking &amp; deposit deepening</a:t>
            </a:r>
            <a:endParaRPr lang="en-US" sz="1200" dirty="0"/>
          </a:p>
        </p:txBody>
      </p:sp>
      <p:sp>
        <p:nvSpPr>
          <p:cNvPr id="6" name="Shape 4"/>
          <p:cNvSpPr/>
          <p:nvPr/>
        </p:nvSpPr>
        <p:spPr>
          <a:xfrm>
            <a:off x="274320" y="1170432"/>
            <a:ext cx="5349240" cy="3730752"/>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74320" y="1170432"/>
            <a:ext cx="5349240" cy="475488"/>
          </a:xfrm>
          <a:prstGeom prst="rect">
            <a:avLst/>
          </a:prstGeom>
          <a:solidFill>
            <a:srgbClr val="1F3864"/>
          </a:solidFill>
          <a:ln w="12700">
            <a:solidFill>
              <a:srgbClr val="1F3864"/>
            </a:solidFill>
            <a:prstDash val="solid"/>
          </a:ln>
        </p:spPr>
      </p:sp>
      <p:sp>
        <p:nvSpPr>
          <p:cNvPr id="8" name="Text 6"/>
          <p:cNvSpPr/>
          <p:nvPr/>
        </p:nvSpPr>
        <p:spPr>
          <a:xfrm>
            <a:off x="420624" y="1188720"/>
            <a:ext cx="5047488" cy="42062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Strategic Direction — Where HDFC Bank is Headed</a:t>
            </a:r>
            <a:endParaRPr lang="en-US" sz="1200" dirty="0"/>
          </a:p>
        </p:txBody>
      </p:sp>
      <p:sp>
        <p:nvSpPr>
          <p:cNvPr id="9" name="Text 7"/>
          <p:cNvSpPr/>
          <p:nvPr/>
        </p:nvSpPr>
        <p:spPr>
          <a:xfrm>
            <a:off x="420624" y="1700784"/>
            <a:ext cx="5047488" cy="3090672"/>
          </a:xfrm>
          <a:prstGeom prst="rect">
            <a:avLst/>
          </a:prstGeom>
          <a:noFill/>
          <a:ln/>
        </p:spPr>
        <p:txBody>
          <a:bodyPr wrap="square" rtlCol="0" anchor="t"/>
          <a:lstStyle/>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Looking ahead, HDFC Bank's growth strategy is centered around expanding its retail lending portfolio, strengthening its deposit base, and leveraging digital banking capabilities to enhance customer engagement. The bank is expected to continue focusing on profitable growth while maintaining strong asset quality and capital discipline.</a:t>
            </a:r>
            <a:endParaRPr lang="en-US" sz="1100" dirty="0"/>
          </a:p>
          <a:p>
            <a:pPr algn="l" indent="0" marL="0">
              <a:spcAft>
                <a:spcPts val="700"/>
              </a:spcAft>
              <a:buNone/>
            </a:pPr>
            <a:endParaRPr lang="en-US" sz="1100" dirty="0"/>
          </a:p>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Its long-term growth prospects remain supported by India's favorable macroeconomic outlook and rising demand for credit across retail and corporate segments. The bank is targeting a loan book CAGR of approximately 16% through FY30, driven primarily by retail segments including home loans, personal loans, and credit cards.</a:t>
            </a:r>
            <a:endParaRPr lang="en-US" sz="1100" dirty="0"/>
          </a:p>
          <a:p>
            <a:pPr algn="l" indent="0" marL="0">
              <a:spcAft>
                <a:spcPts val="700"/>
              </a:spcAft>
              <a:buNone/>
            </a:pPr>
            <a:endParaRPr lang="en-US" sz="1100" dirty="0"/>
          </a:p>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The bank has also invested heavily in technology and digital platforms to enhance customer experience and expand distribution channels. Digital banking initiatives include the PayZapp 2.0 super-app, SmartHub Vyapar for merchant banking, deep UPI integration, and API banking partnerships with fintechs — all designed to acquire customers at lower cost and cross-sell products more effectively.</a:t>
            </a:r>
            <a:endParaRPr lang="en-US" sz="1100" dirty="0"/>
          </a:p>
          <a:p>
            <a:pPr algn="l" indent="0" marL="0">
              <a:spcAft>
                <a:spcPts val="700"/>
              </a:spcAft>
              <a:buNone/>
            </a:pPr>
            <a:endParaRPr lang="en-US" sz="1100" dirty="0"/>
          </a:p>
          <a:p>
            <a:pPr algn="l" indent="0" marL="0">
              <a:spcAft>
                <a:spcPts val="700"/>
              </a:spcAft>
              <a:buNone/>
            </a:pPr>
            <a:r>
              <a:rPr lang="en-US" sz="1100" dirty="0">
                <a:solidFill>
                  <a:srgbClr val="374151"/>
                </a:solidFill>
                <a:latin typeface="Calibri" pitchFamily="34" charset="0"/>
                <a:ea typeface="Calibri" pitchFamily="34" charset="-122"/>
                <a:cs typeface="Calibri" pitchFamily="34" charset="-120"/>
              </a:rPr>
              <a:t>Following the completion of the merger with HDFC Ltd., the bank is now integrating one of India's largest mortgage lenders, unlocking significant synergies in the home loan business. This merger transforms HDFC Bank into a universal banking powerhouse with a combined balance sheet of over ₹35 lakh crore in total assets, creating India's largest private sector banking institution by a wide margin.</a:t>
            </a:r>
            <a:endParaRPr lang="en-US" sz="1100" dirty="0"/>
          </a:p>
        </p:txBody>
      </p:sp>
      <p:sp>
        <p:nvSpPr>
          <p:cNvPr id="10" name="Shape 8"/>
          <p:cNvSpPr/>
          <p:nvPr/>
        </p:nvSpPr>
        <p:spPr>
          <a:xfrm>
            <a:off x="5833872" y="1170432"/>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5833872" y="1170432"/>
            <a:ext cx="109728" cy="859536"/>
          </a:xfrm>
          <a:prstGeom prst="rect">
            <a:avLst/>
          </a:prstGeom>
          <a:solidFill>
            <a:srgbClr val="1F3864"/>
          </a:solidFill>
          <a:ln w="12700">
            <a:solidFill>
              <a:srgbClr val="1F3864"/>
            </a:solidFill>
            <a:prstDash val="solid"/>
          </a:ln>
        </p:spPr>
      </p:sp>
      <p:pic>
        <p:nvPicPr>
          <p:cNvPr id="12" name="Image 0" descr="preencoded.png">    </p:cNvPr>
          <p:cNvPicPr>
            <a:picLocks noChangeAspect="1"/>
          </p:cNvPicPr>
          <p:nvPr/>
        </p:nvPicPr>
        <p:blipFill>
          <a:blip r:embed="rId1"/>
          <a:stretch>
            <a:fillRect/>
          </a:stretch>
        </p:blipFill>
        <p:spPr>
          <a:xfrm>
            <a:off x="5961888" y="1399032"/>
            <a:ext cx="310896" cy="310896"/>
          </a:xfrm>
          <a:prstGeom prst="rect">
            <a:avLst/>
          </a:prstGeom>
        </p:spPr>
      </p:pic>
      <p:sp>
        <p:nvSpPr>
          <p:cNvPr id="13" name="Text 10"/>
          <p:cNvSpPr/>
          <p:nvPr/>
        </p:nvSpPr>
        <p:spPr>
          <a:xfrm>
            <a:off x="6345936" y="1261872"/>
            <a:ext cx="2432304" cy="274320"/>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Retail Portfolio</a:t>
            </a:r>
            <a:endParaRPr lang="en-US" sz="1100" dirty="0"/>
          </a:p>
        </p:txBody>
      </p:sp>
      <p:sp>
        <p:nvSpPr>
          <p:cNvPr id="14" name="Text 11"/>
          <p:cNvSpPr/>
          <p:nvPr/>
        </p:nvSpPr>
        <p:spPr>
          <a:xfrm>
            <a:off x="6345936" y="1554480"/>
            <a:ext cx="2432304" cy="420624"/>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Home, auto, personal loans &amp; credit cards — 16% CAGR target</a:t>
            </a:r>
            <a:endParaRPr lang="en-US" sz="950" dirty="0"/>
          </a:p>
        </p:txBody>
      </p:sp>
      <p:sp>
        <p:nvSpPr>
          <p:cNvPr id="15" name="Shape 12"/>
          <p:cNvSpPr/>
          <p:nvPr/>
        </p:nvSpPr>
        <p:spPr>
          <a:xfrm>
            <a:off x="5833872" y="2139696"/>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16" name="Shape 13"/>
          <p:cNvSpPr/>
          <p:nvPr/>
        </p:nvSpPr>
        <p:spPr>
          <a:xfrm>
            <a:off x="5833872" y="2139696"/>
            <a:ext cx="109728" cy="859536"/>
          </a:xfrm>
          <a:prstGeom prst="rect">
            <a:avLst/>
          </a:prstGeom>
          <a:solidFill>
            <a:srgbClr val="2E4A8A"/>
          </a:solidFill>
          <a:ln w="12700">
            <a:solidFill>
              <a:srgbClr val="2E4A8A"/>
            </a:solidFill>
            <a:prstDash val="solid"/>
          </a:ln>
        </p:spPr>
      </p:sp>
      <p:pic>
        <p:nvPicPr>
          <p:cNvPr id="17" name="Image 1" descr="preencoded.png">    </p:cNvPr>
          <p:cNvPicPr>
            <a:picLocks noChangeAspect="1"/>
          </p:cNvPicPr>
          <p:nvPr/>
        </p:nvPicPr>
        <p:blipFill>
          <a:blip r:embed="rId2"/>
          <a:stretch>
            <a:fillRect/>
          </a:stretch>
        </p:blipFill>
        <p:spPr>
          <a:xfrm>
            <a:off x="5961888" y="2368296"/>
            <a:ext cx="310896" cy="310896"/>
          </a:xfrm>
          <a:prstGeom prst="rect">
            <a:avLst/>
          </a:prstGeom>
        </p:spPr>
      </p:pic>
      <p:sp>
        <p:nvSpPr>
          <p:cNvPr id="18" name="Text 14"/>
          <p:cNvSpPr/>
          <p:nvPr/>
        </p:nvSpPr>
        <p:spPr>
          <a:xfrm>
            <a:off x="6345936" y="2231136"/>
            <a:ext cx="2432304" cy="274320"/>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Deposit Deepening</a:t>
            </a:r>
            <a:endParaRPr lang="en-US" sz="1100" dirty="0"/>
          </a:p>
        </p:txBody>
      </p:sp>
      <p:sp>
        <p:nvSpPr>
          <p:cNvPr id="19" name="Text 15"/>
          <p:cNvSpPr/>
          <p:nvPr/>
        </p:nvSpPr>
        <p:spPr>
          <a:xfrm>
            <a:off x="6345936" y="2523744"/>
            <a:ext cx="2432304" cy="420624"/>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Growing CASA via digital onboarding &amp; branch expansion</a:t>
            </a:r>
            <a:endParaRPr lang="en-US" sz="950" dirty="0"/>
          </a:p>
        </p:txBody>
      </p:sp>
      <p:sp>
        <p:nvSpPr>
          <p:cNvPr id="20" name="Shape 16"/>
          <p:cNvSpPr/>
          <p:nvPr/>
        </p:nvSpPr>
        <p:spPr>
          <a:xfrm>
            <a:off x="5833872" y="3108960"/>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21" name="Shape 17"/>
          <p:cNvSpPr/>
          <p:nvPr/>
        </p:nvSpPr>
        <p:spPr>
          <a:xfrm>
            <a:off x="5833872" y="3108960"/>
            <a:ext cx="109728" cy="859536"/>
          </a:xfrm>
          <a:prstGeom prst="rect">
            <a:avLst/>
          </a:prstGeom>
          <a:solidFill>
            <a:srgbClr val="4472C4"/>
          </a:solidFill>
          <a:ln w="12700">
            <a:solidFill>
              <a:srgbClr val="4472C4"/>
            </a:solidFill>
            <a:prstDash val="solid"/>
          </a:ln>
        </p:spPr>
      </p:sp>
      <p:pic>
        <p:nvPicPr>
          <p:cNvPr id="22" name="Image 2" descr="preencoded.png">    </p:cNvPr>
          <p:cNvPicPr>
            <a:picLocks noChangeAspect="1"/>
          </p:cNvPicPr>
          <p:nvPr/>
        </p:nvPicPr>
        <p:blipFill>
          <a:blip r:embed="rId3"/>
          <a:stretch>
            <a:fillRect/>
          </a:stretch>
        </p:blipFill>
        <p:spPr>
          <a:xfrm>
            <a:off x="5961888" y="3337560"/>
            <a:ext cx="310896" cy="310896"/>
          </a:xfrm>
          <a:prstGeom prst="rect">
            <a:avLst/>
          </a:prstGeom>
        </p:spPr>
      </p:pic>
      <p:sp>
        <p:nvSpPr>
          <p:cNvPr id="23" name="Text 18"/>
          <p:cNvSpPr/>
          <p:nvPr/>
        </p:nvSpPr>
        <p:spPr>
          <a:xfrm>
            <a:off x="6345936" y="3200400"/>
            <a:ext cx="2432304" cy="274320"/>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Digital Platform</a:t>
            </a:r>
            <a:endParaRPr lang="en-US" sz="1100" dirty="0"/>
          </a:p>
        </p:txBody>
      </p:sp>
      <p:sp>
        <p:nvSpPr>
          <p:cNvPr id="24" name="Text 19"/>
          <p:cNvSpPr/>
          <p:nvPr/>
        </p:nvSpPr>
        <p:spPr>
          <a:xfrm>
            <a:off x="6345936" y="3493008"/>
            <a:ext cx="2432304" cy="420624"/>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PayZapp 2.0, UPI, API banking for lower CAC</a:t>
            </a:r>
            <a:endParaRPr lang="en-US" sz="950" dirty="0"/>
          </a:p>
        </p:txBody>
      </p:sp>
      <p:sp>
        <p:nvSpPr>
          <p:cNvPr id="25" name="Shape 20"/>
          <p:cNvSpPr/>
          <p:nvPr/>
        </p:nvSpPr>
        <p:spPr>
          <a:xfrm>
            <a:off x="5833872" y="4078224"/>
            <a:ext cx="3035808" cy="859536"/>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26" name="Shape 21"/>
          <p:cNvSpPr/>
          <p:nvPr/>
        </p:nvSpPr>
        <p:spPr>
          <a:xfrm>
            <a:off x="5833872" y="4078224"/>
            <a:ext cx="109728" cy="859536"/>
          </a:xfrm>
          <a:prstGeom prst="rect">
            <a:avLst/>
          </a:prstGeom>
          <a:solidFill>
            <a:srgbClr val="1F3864"/>
          </a:solidFill>
          <a:ln w="12700">
            <a:solidFill>
              <a:srgbClr val="1F3864"/>
            </a:solidFill>
            <a:prstDash val="solid"/>
          </a:ln>
        </p:spPr>
      </p:sp>
      <p:pic>
        <p:nvPicPr>
          <p:cNvPr id="27" name="Image 3" descr="preencoded.png">    </p:cNvPr>
          <p:cNvPicPr>
            <a:picLocks noChangeAspect="1"/>
          </p:cNvPicPr>
          <p:nvPr/>
        </p:nvPicPr>
        <p:blipFill>
          <a:blip r:embed="rId4"/>
          <a:stretch>
            <a:fillRect/>
          </a:stretch>
        </p:blipFill>
        <p:spPr>
          <a:xfrm>
            <a:off x="5961888" y="4306824"/>
            <a:ext cx="310896" cy="310896"/>
          </a:xfrm>
          <a:prstGeom prst="rect">
            <a:avLst/>
          </a:prstGeom>
        </p:spPr>
      </p:pic>
      <p:sp>
        <p:nvSpPr>
          <p:cNvPr id="28" name="Text 22"/>
          <p:cNvSpPr/>
          <p:nvPr/>
        </p:nvSpPr>
        <p:spPr>
          <a:xfrm>
            <a:off x="6345936" y="4169664"/>
            <a:ext cx="2432304" cy="274320"/>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Merger Synergies</a:t>
            </a:r>
            <a:endParaRPr lang="en-US" sz="1100" dirty="0"/>
          </a:p>
        </p:txBody>
      </p:sp>
      <p:sp>
        <p:nvSpPr>
          <p:cNvPr id="29" name="Text 23"/>
          <p:cNvSpPr/>
          <p:nvPr/>
        </p:nvSpPr>
        <p:spPr>
          <a:xfrm>
            <a:off x="6345936" y="4462272"/>
            <a:ext cx="2432304" cy="420624"/>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HDFC Ltd. integration unlocking mortgage &amp; cross-sell upside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F3864"/>
          </a:solidFill>
          <a:ln w="12700">
            <a:solidFill>
              <a:srgbClr val="1F3864"/>
            </a:solidFill>
            <a:prstDash val="solid"/>
          </a:ln>
        </p:spPr>
      </p:sp>
      <p:sp>
        <p:nvSpPr>
          <p:cNvPr id="3" name="Shape 1"/>
          <p:cNvSpPr/>
          <p:nvPr/>
        </p:nvSpPr>
        <p:spPr>
          <a:xfrm>
            <a:off x="0" y="1024128"/>
            <a:ext cx="9144000" cy="64008"/>
          </a:xfrm>
          <a:prstGeom prst="rect">
            <a:avLst/>
          </a:prstGeom>
          <a:solidFill>
            <a:srgbClr val="C9A84C"/>
          </a:solidFill>
          <a:ln w="12700">
            <a:solidFill>
              <a:srgbClr val="C9A84C"/>
            </a:solidFill>
            <a:prstDash val="solid"/>
          </a:ln>
        </p:spPr>
      </p:sp>
      <p:sp>
        <p:nvSpPr>
          <p:cNvPr id="4" name="Text 2"/>
          <p:cNvSpPr/>
          <p:nvPr/>
        </p:nvSpPr>
        <p:spPr>
          <a:xfrm>
            <a:off x="411480" y="54864"/>
            <a:ext cx="8321040" cy="530352"/>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COMPETITIVE ADVANTAGES — THE HDFC BANK MOAT</a:t>
            </a:r>
            <a:endParaRPr lang="en-US" sz="2800" dirty="0"/>
          </a:p>
        </p:txBody>
      </p:sp>
      <p:sp>
        <p:nvSpPr>
          <p:cNvPr id="5" name="Text 3"/>
          <p:cNvSpPr/>
          <p:nvPr/>
        </p:nvSpPr>
        <p:spPr>
          <a:xfrm>
            <a:off x="411480" y="603504"/>
            <a:ext cx="8321040" cy="347472"/>
          </a:xfrm>
          <a:prstGeom prst="rect">
            <a:avLst/>
          </a:prstGeom>
          <a:noFill/>
          <a:ln/>
        </p:spPr>
        <p:txBody>
          <a:bodyPr wrap="square" rtlCol="0" anchor="ctr"/>
          <a:lstStyle/>
          <a:p>
            <a:pPr algn="l" indent="0" marL="0">
              <a:buNone/>
            </a:pPr>
            <a:r>
              <a:rPr lang="en-US" sz="1200" dirty="0">
                <a:solidFill>
                  <a:srgbClr val="D6DCE4"/>
                </a:solidFill>
                <a:latin typeface="Calibri" pitchFamily="34" charset="0"/>
                <a:ea typeface="Calibri" pitchFamily="34" charset="-122"/>
                <a:cs typeface="Calibri" pitchFamily="34" charset="-120"/>
              </a:rPr>
              <a:t>What makes HDFC Bank India's most resilient and well-managed bank</a:t>
            </a:r>
            <a:endParaRPr lang="en-US" sz="1200" dirty="0"/>
          </a:p>
        </p:txBody>
      </p:sp>
      <p:sp>
        <p:nvSpPr>
          <p:cNvPr id="6" name="Shape 4"/>
          <p:cNvSpPr/>
          <p:nvPr/>
        </p:nvSpPr>
        <p:spPr>
          <a:xfrm>
            <a:off x="228600" y="1115568"/>
            <a:ext cx="2779776" cy="1792224"/>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28600" y="1115568"/>
            <a:ext cx="2779776" cy="457200"/>
          </a:xfrm>
          <a:prstGeom prst="rect">
            <a:avLst/>
          </a:prstGeom>
          <a:solidFill>
            <a:srgbClr val="1F3864"/>
          </a:solidFill>
          <a:ln w="12700">
            <a:solidFill>
              <a:srgbClr val="1F3864"/>
            </a:solidFill>
            <a:prstDash val="solid"/>
          </a:ln>
        </p:spPr>
      </p:sp>
      <p:pic>
        <p:nvPicPr>
          <p:cNvPr id="8" name="Image 0" descr="preencoded.png">    </p:cNvPr>
          <p:cNvPicPr>
            <a:picLocks noChangeAspect="1"/>
          </p:cNvPicPr>
          <p:nvPr/>
        </p:nvPicPr>
        <p:blipFill>
          <a:blip r:embed="rId1"/>
          <a:stretch>
            <a:fillRect/>
          </a:stretch>
        </p:blipFill>
        <p:spPr>
          <a:xfrm>
            <a:off x="320040" y="1207008"/>
            <a:ext cx="274320" cy="274320"/>
          </a:xfrm>
          <a:prstGeom prst="rect">
            <a:avLst/>
          </a:prstGeom>
        </p:spPr>
      </p:pic>
      <p:sp>
        <p:nvSpPr>
          <p:cNvPr id="9" name="Text 6"/>
          <p:cNvSpPr/>
          <p:nvPr/>
        </p:nvSpPr>
        <p:spPr>
          <a:xfrm>
            <a:off x="649224" y="1207008"/>
            <a:ext cx="2267712"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Largest Private Bank</a:t>
            </a:r>
            <a:endParaRPr lang="en-US" sz="1100" dirty="0"/>
          </a:p>
        </p:txBody>
      </p:sp>
      <p:sp>
        <p:nvSpPr>
          <p:cNvPr id="10" name="Text 7"/>
          <p:cNvSpPr/>
          <p:nvPr/>
        </p:nvSpPr>
        <p:spPr>
          <a:xfrm>
            <a:off x="320040" y="1645920"/>
            <a:ext cx="2596896" cy="1188720"/>
          </a:xfrm>
          <a:prstGeom prst="rect">
            <a:avLst/>
          </a:prstGeom>
          <a:noFill/>
          <a:ln/>
        </p:spPr>
        <p:txBody>
          <a:bodyPr wrap="square" rtlCol="0" anchor="t"/>
          <a:lstStyle/>
          <a:p>
            <a:pPr algn="l" indent="0" marL="0">
              <a:spcAft>
                <a:spcPts val="400"/>
              </a:spcAft>
              <a:buNone/>
            </a:pPr>
            <a:r>
              <a:rPr lang="en-US" sz="1050" dirty="0">
                <a:solidFill>
                  <a:srgbClr val="374151"/>
                </a:solidFill>
                <a:latin typeface="Calibri" pitchFamily="34" charset="0"/>
                <a:ea typeface="Calibri" pitchFamily="34" charset="-122"/>
                <a:cs typeface="Calibri" pitchFamily="34" charset="-120"/>
              </a:rPr>
              <a:t>India's largest private sector bank by total assets — over ₹35 lakh crore post-merger with HDFC Ltd., giving it unrivalled scale advantages in funding, distribution, and pricing.</a:t>
            </a:r>
            <a:endParaRPr lang="en-US" sz="1050" dirty="0"/>
          </a:p>
        </p:txBody>
      </p:sp>
      <p:sp>
        <p:nvSpPr>
          <p:cNvPr id="11" name="Shape 8"/>
          <p:cNvSpPr/>
          <p:nvPr/>
        </p:nvSpPr>
        <p:spPr>
          <a:xfrm>
            <a:off x="3136392" y="1115568"/>
            <a:ext cx="2779776" cy="1792224"/>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12" name="Shape 9"/>
          <p:cNvSpPr/>
          <p:nvPr/>
        </p:nvSpPr>
        <p:spPr>
          <a:xfrm>
            <a:off x="3136392" y="1115568"/>
            <a:ext cx="2779776" cy="457200"/>
          </a:xfrm>
          <a:prstGeom prst="rect">
            <a:avLst/>
          </a:prstGeom>
          <a:solidFill>
            <a:srgbClr val="2E4A8A"/>
          </a:solidFill>
          <a:ln w="12700">
            <a:solidFill>
              <a:srgbClr val="2E4A8A"/>
            </a:solidFill>
            <a:prstDash val="solid"/>
          </a:ln>
        </p:spPr>
      </p:sp>
      <p:pic>
        <p:nvPicPr>
          <p:cNvPr id="13" name="Image 1" descr="preencoded.png">    </p:cNvPr>
          <p:cNvPicPr>
            <a:picLocks noChangeAspect="1"/>
          </p:cNvPicPr>
          <p:nvPr/>
        </p:nvPicPr>
        <p:blipFill>
          <a:blip r:embed="rId2"/>
          <a:stretch>
            <a:fillRect/>
          </a:stretch>
        </p:blipFill>
        <p:spPr>
          <a:xfrm>
            <a:off x="3227832" y="1207008"/>
            <a:ext cx="274320" cy="274320"/>
          </a:xfrm>
          <a:prstGeom prst="rect">
            <a:avLst/>
          </a:prstGeom>
        </p:spPr>
      </p:pic>
      <p:sp>
        <p:nvSpPr>
          <p:cNvPr id="14" name="Text 10"/>
          <p:cNvSpPr/>
          <p:nvPr/>
        </p:nvSpPr>
        <p:spPr>
          <a:xfrm>
            <a:off x="3557016" y="1207008"/>
            <a:ext cx="2267712"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Superior Asset Quality</a:t>
            </a:r>
            <a:endParaRPr lang="en-US" sz="1100" dirty="0"/>
          </a:p>
        </p:txBody>
      </p:sp>
      <p:sp>
        <p:nvSpPr>
          <p:cNvPr id="15" name="Text 11"/>
          <p:cNvSpPr/>
          <p:nvPr/>
        </p:nvSpPr>
        <p:spPr>
          <a:xfrm>
            <a:off x="3227832" y="1645920"/>
            <a:ext cx="2596896" cy="1188720"/>
          </a:xfrm>
          <a:prstGeom prst="rect">
            <a:avLst/>
          </a:prstGeom>
          <a:noFill/>
          <a:ln/>
        </p:spPr>
        <p:txBody>
          <a:bodyPr wrap="square" rtlCol="0" anchor="t"/>
          <a:lstStyle/>
          <a:p>
            <a:pPr algn="l" indent="0" marL="0">
              <a:spcAft>
                <a:spcPts val="400"/>
              </a:spcAft>
              <a:buNone/>
            </a:pPr>
            <a:r>
              <a:rPr lang="en-US" sz="1050" dirty="0">
                <a:solidFill>
                  <a:srgbClr val="374151"/>
                </a:solidFill>
                <a:latin typeface="Calibri" pitchFamily="34" charset="0"/>
                <a:ea typeface="Calibri" pitchFamily="34" charset="-122"/>
                <a:cs typeface="Calibri" pitchFamily="34" charset="-120"/>
              </a:rPr>
              <a:t>GNPA ratio consistently below 1.5%, supported by rigorous underwriting, collateral-backed retail book, strong collections infrastructure, and PCR maintained above 70%.</a:t>
            </a:r>
            <a:endParaRPr lang="en-US" sz="1050" dirty="0"/>
          </a:p>
        </p:txBody>
      </p:sp>
      <p:sp>
        <p:nvSpPr>
          <p:cNvPr id="16" name="Shape 12"/>
          <p:cNvSpPr/>
          <p:nvPr/>
        </p:nvSpPr>
        <p:spPr>
          <a:xfrm>
            <a:off x="6044184" y="1115568"/>
            <a:ext cx="2779776" cy="1792224"/>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17" name="Shape 13"/>
          <p:cNvSpPr/>
          <p:nvPr/>
        </p:nvSpPr>
        <p:spPr>
          <a:xfrm>
            <a:off x="6044184" y="1115568"/>
            <a:ext cx="2779776" cy="457200"/>
          </a:xfrm>
          <a:prstGeom prst="rect">
            <a:avLst/>
          </a:prstGeom>
          <a:solidFill>
            <a:srgbClr val="4472C4"/>
          </a:solidFill>
          <a:ln w="12700">
            <a:solidFill>
              <a:srgbClr val="4472C4"/>
            </a:solidFill>
            <a:prstDash val="solid"/>
          </a:ln>
        </p:spPr>
      </p:sp>
      <p:pic>
        <p:nvPicPr>
          <p:cNvPr id="18" name="Image 2" descr="preencoded.png">    </p:cNvPr>
          <p:cNvPicPr>
            <a:picLocks noChangeAspect="1"/>
          </p:cNvPicPr>
          <p:nvPr/>
        </p:nvPicPr>
        <p:blipFill>
          <a:blip r:embed="rId3"/>
          <a:stretch>
            <a:fillRect/>
          </a:stretch>
        </p:blipFill>
        <p:spPr>
          <a:xfrm>
            <a:off x="6135624" y="1207008"/>
            <a:ext cx="274320" cy="274320"/>
          </a:xfrm>
          <a:prstGeom prst="rect">
            <a:avLst/>
          </a:prstGeom>
        </p:spPr>
      </p:pic>
      <p:sp>
        <p:nvSpPr>
          <p:cNvPr id="19" name="Text 14"/>
          <p:cNvSpPr/>
          <p:nvPr/>
        </p:nvSpPr>
        <p:spPr>
          <a:xfrm>
            <a:off x="6464808" y="1207008"/>
            <a:ext cx="2267712"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CASA Franchise Strength</a:t>
            </a:r>
            <a:endParaRPr lang="en-US" sz="1100" dirty="0"/>
          </a:p>
        </p:txBody>
      </p:sp>
      <p:sp>
        <p:nvSpPr>
          <p:cNvPr id="20" name="Text 15"/>
          <p:cNvSpPr/>
          <p:nvPr/>
        </p:nvSpPr>
        <p:spPr>
          <a:xfrm>
            <a:off x="6135624" y="1645920"/>
            <a:ext cx="2596896" cy="1188720"/>
          </a:xfrm>
          <a:prstGeom prst="rect">
            <a:avLst/>
          </a:prstGeom>
          <a:noFill/>
          <a:ln/>
        </p:spPr>
        <p:txBody>
          <a:bodyPr wrap="square" rtlCol="0" anchor="t"/>
          <a:lstStyle/>
          <a:p>
            <a:pPr algn="l" indent="0" marL="0">
              <a:spcAft>
                <a:spcPts val="400"/>
              </a:spcAft>
              <a:buNone/>
            </a:pPr>
            <a:r>
              <a:rPr lang="en-US" sz="1050" dirty="0">
                <a:solidFill>
                  <a:srgbClr val="374151"/>
                </a:solidFill>
                <a:latin typeface="Calibri" pitchFamily="34" charset="0"/>
                <a:ea typeface="Calibri" pitchFamily="34" charset="-122"/>
                <a:cs typeface="Calibri" pitchFamily="34" charset="-120"/>
              </a:rPr>
              <a:t>~42% CASA ratio — among the highest in Indian private banking. Low-cost deposit base provides structural funding advantage and underpins competitive NIMs across all rate cycles.</a:t>
            </a:r>
            <a:endParaRPr lang="en-US" sz="1050" dirty="0"/>
          </a:p>
        </p:txBody>
      </p:sp>
      <p:sp>
        <p:nvSpPr>
          <p:cNvPr id="21" name="Shape 16"/>
          <p:cNvSpPr/>
          <p:nvPr/>
        </p:nvSpPr>
        <p:spPr>
          <a:xfrm>
            <a:off x="228600" y="3035808"/>
            <a:ext cx="2779776" cy="1792224"/>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22" name="Shape 17"/>
          <p:cNvSpPr/>
          <p:nvPr/>
        </p:nvSpPr>
        <p:spPr>
          <a:xfrm>
            <a:off x="228600" y="3035808"/>
            <a:ext cx="2779776" cy="457200"/>
          </a:xfrm>
          <a:prstGeom prst="rect">
            <a:avLst/>
          </a:prstGeom>
          <a:solidFill>
            <a:srgbClr val="1E6091"/>
          </a:solidFill>
          <a:ln w="12700">
            <a:solidFill>
              <a:srgbClr val="1E6091"/>
            </a:solidFill>
            <a:prstDash val="solid"/>
          </a:ln>
        </p:spPr>
      </p:sp>
      <p:pic>
        <p:nvPicPr>
          <p:cNvPr id="23" name="Image 3" descr="preencoded.png">    </p:cNvPr>
          <p:cNvPicPr>
            <a:picLocks noChangeAspect="1"/>
          </p:cNvPicPr>
          <p:nvPr/>
        </p:nvPicPr>
        <p:blipFill>
          <a:blip r:embed="rId4"/>
          <a:stretch>
            <a:fillRect/>
          </a:stretch>
        </p:blipFill>
        <p:spPr>
          <a:xfrm>
            <a:off x="320040" y="3127248"/>
            <a:ext cx="274320" cy="274320"/>
          </a:xfrm>
          <a:prstGeom prst="rect">
            <a:avLst/>
          </a:prstGeom>
        </p:spPr>
      </p:pic>
      <p:sp>
        <p:nvSpPr>
          <p:cNvPr id="24" name="Text 18"/>
          <p:cNvSpPr/>
          <p:nvPr/>
        </p:nvSpPr>
        <p:spPr>
          <a:xfrm>
            <a:off x="649224" y="3127248"/>
            <a:ext cx="2267712"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Technology Leadership</a:t>
            </a:r>
            <a:endParaRPr lang="en-US" sz="1100" dirty="0"/>
          </a:p>
        </p:txBody>
      </p:sp>
      <p:sp>
        <p:nvSpPr>
          <p:cNvPr id="25" name="Text 19"/>
          <p:cNvSpPr/>
          <p:nvPr/>
        </p:nvSpPr>
        <p:spPr>
          <a:xfrm>
            <a:off x="320040" y="3566160"/>
            <a:ext cx="2596896" cy="1188720"/>
          </a:xfrm>
          <a:prstGeom prst="rect">
            <a:avLst/>
          </a:prstGeom>
          <a:noFill/>
          <a:ln/>
        </p:spPr>
        <p:txBody>
          <a:bodyPr wrap="square" rtlCol="0" anchor="t"/>
          <a:lstStyle/>
          <a:p>
            <a:pPr algn="l" indent="0" marL="0">
              <a:spcAft>
                <a:spcPts val="400"/>
              </a:spcAft>
              <a:buNone/>
            </a:pPr>
            <a:r>
              <a:rPr lang="en-US" sz="1050" dirty="0">
                <a:solidFill>
                  <a:srgbClr val="374151"/>
                </a:solidFill>
                <a:latin typeface="Calibri" pitchFamily="34" charset="0"/>
                <a:ea typeface="Calibri" pitchFamily="34" charset="-122"/>
                <a:cs typeface="Calibri" pitchFamily="34" charset="-120"/>
              </a:rPr>
              <a:t>Award-winning digital ecosystem: PayZapp 2.0, SmartHub Vyapar, UPI, API banking. Heavy tech investment lowers customer acquisition cost and enables at-scale cross-selling.</a:t>
            </a:r>
            <a:endParaRPr lang="en-US" sz="1050" dirty="0"/>
          </a:p>
        </p:txBody>
      </p:sp>
      <p:sp>
        <p:nvSpPr>
          <p:cNvPr id="26" name="Shape 20"/>
          <p:cNvSpPr/>
          <p:nvPr/>
        </p:nvSpPr>
        <p:spPr>
          <a:xfrm>
            <a:off x="3136392" y="3035808"/>
            <a:ext cx="2779776" cy="1792224"/>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27" name="Shape 21"/>
          <p:cNvSpPr/>
          <p:nvPr/>
        </p:nvSpPr>
        <p:spPr>
          <a:xfrm>
            <a:off x="3136392" y="3035808"/>
            <a:ext cx="2779776" cy="457200"/>
          </a:xfrm>
          <a:prstGeom prst="rect">
            <a:avLst/>
          </a:prstGeom>
          <a:solidFill>
            <a:srgbClr val="0D6E8A"/>
          </a:solidFill>
          <a:ln w="12700">
            <a:solidFill>
              <a:srgbClr val="0D6E8A"/>
            </a:solidFill>
            <a:prstDash val="solid"/>
          </a:ln>
        </p:spPr>
      </p:sp>
      <p:pic>
        <p:nvPicPr>
          <p:cNvPr id="28" name="Image 4" descr="preencoded.png">    </p:cNvPr>
          <p:cNvPicPr>
            <a:picLocks noChangeAspect="1"/>
          </p:cNvPicPr>
          <p:nvPr/>
        </p:nvPicPr>
        <p:blipFill>
          <a:blip r:embed="rId5"/>
          <a:stretch>
            <a:fillRect/>
          </a:stretch>
        </p:blipFill>
        <p:spPr>
          <a:xfrm>
            <a:off x="3227832" y="3127248"/>
            <a:ext cx="274320" cy="274320"/>
          </a:xfrm>
          <a:prstGeom prst="rect">
            <a:avLst/>
          </a:prstGeom>
        </p:spPr>
      </p:pic>
      <p:sp>
        <p:nvSpPr>
          <p:cNvPr id="29" name="Text 22"/>
          <p:cNvSpPr/>
          <p:nvPr/>
        </p:nvSpPr>
        <p:spPr>
          <a:xfrm>
            <a:off x="3557016" y="3127248"/>
            <a:ext cx="2267712"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Pan-India Distribution</a:t>
            </a:r>
            <a:endParaRPr lang="en-US" sz="1100" dirty="0"/>
          </a:p>
        </p:txBody>
      </p:sp>
      <p:sp>
        <p:nvSpPr>
          <p:cNvPr id="30" name="Text 23"/>
          <p:cNvSpPr/>
          <p:nvPr/>
        </p:nvSpPr>
        <p:spPr>
          <a:xfrm>
            <a:off x="3227832" y="3566160"/>
            <a:ext cx="2596896" cy="1188720"/>
          </a:xfrm>
          <a:prstGeom prst="rect">
            <a:avLst/>
          </a:prstGeom>
          <a:noFill/>
          <a:ln/>
        </p:spPr>
        <p:txBody>
          <a:bodyPr wrap="square" rtlCol="0" anchor="t"/>
          <a:lstStyle/>
          <a:p>
            <a:pPr algn="l" indent="0" marL="0">
              <a:spcAft>
                <a:spcPts val="400"/>
              </a:spcAft>
              <a:buNone/>
            </a:pPr>
            <a:r>
              <a:rPr lang="en-US" sz="1050" dirty="0">
                <a:solidFill>
                  <a:srgbClr val="374151"/>
                </a:solidFill>
                <a:latin typeface="Calibri" pitchFamily="34" charset="0"/>
                <a:ea typeface="Calibri" pitchFamily="34" charset="-122"/>
                <a:cs typeface="Calibri" pitchFamily="34" charset="-120"/>
              </a:rPr>
              <a:t>8,700+ branches and 20,000+ ATMs with deep rural and semi-urban penetration. Largest private bank network in India, covering all states and union territories.</a:t>
            </a:r>
            <a:endParaRPr lang="en-US" sz="1050" dirty="0"/>
          </a:p>
        </p:txBody>
      </p:sp>
      <p:sp>
        <p:nvSpPr>
          <p:cNvPr id="31" name="Shape 24"/>
          <p:cNvSpPr/>
          <p:nvPr/>
        </p:nvSpPr>
        <p:spPr>
          <a:xfrm>
            <a:off x="6044184" y="3035808"/>
            <a:ext cx="2779776" cy="1792224"/>
          </a:xfrm>
          <a:prstGeom prst="rect">
            <a:avLst/>
          </a:prstGeom>
          <a:solidFill>
            <a:srgbClr val="FFFFFF"/>
          </a:solidFill>
          <a:ln w="12700">
            <a:solidFill>
              <a:srgbClr val="D6DCE4"/>
            </a:solidFill>
            <a:prstDash val="solid"/>
          </a:ln>
          <a:effectLst>
            <a:outerShdw sx="100000" sy="100000" kx="0" ky="0" algn="bl" rotWithShape="0" blurRad="101600" dist="38100" dir="8100000">
              <a:srgbClr val="000000">
                <a:alpha val="10000"/>
              </a:srgbClr>
            </a:outerShdw>
          </a:effectLst>
        </p:spPr>
      </p:sp>
      <p:sp>
        <p:nvSpPr>
          <p:cNvPr id="32" name="Shape 25"/>
          <p:cNvSpPr/>
          <p:nvPr/>
        </p:nvSpPr>
        <p:spPr>
          <a:xfrm>
            <a:off x="6044184" y="3035808"/>
            <a:ext cx="2779776" cy="457200"/>
          </a:xfrm>
          <a:prstGeom prst="rect">
            <a:avLst/>
          </a:prstGeom>
          <a:solidFill>
            <a:srgbClr val="145A6C"/>
          </a:solidFill>
          <a:ln w="12700">
            <a:solidFill>
              <a:srgbClr val="145A6C"/>
            </a:solidFill>
            <a:prstDash val="solid"/>
          </a:ln>
        </p:spPr>
      </p:sp>
      <p:pic>
        <p:nvPicPr>
          <p:cNvPr id="33" name="Image 5" descr="preencoded.png">    </p:cNvPr>
          <p:cNvPicPr>
            <a:picLocks noChangeAspect="1"/>
          </p:cNvPicPr>
          <p:nvPr/>
        </p:nvPicPr>
        <p:blipFill>
          <a:blip r:embed="rId6"/>
          <a:stretch>
            <a:fillRect/>
          </a:stretch>
        </p:blipFill>
        <p:spPr>
          <a:xfrm>
            <a:off x="6135624" y="3127248"/>
            <a:ext cx="274320" cy="274320"/>
          </a:xfrm>
          <a:prstGeom prst="rect">
            <a:avLst/>
          </a:prstGeom>
        </p:spPr>
      </p:pic>
      <p:sp>
        <p:nvSpPr>
          <p:cNvPr id="34" name="Text 26"/>
          <p:cNvSpPr/>
          <p:nvPr/>
        </p:nvSpPr>
        <p:spPr>
          <a:xfrm>
            <a:off x="6464808" y="3127248"/>
            <a:ext cx="2267712"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Diversified Revenue Mix</a:t>
            </a:r>
            <a:endParaRPr lang="en-US" sz="1100" dirty="0"/>
          </a:p>
        </p:txBody>
      </p:sp>
      <p:sp>
        <p:nvSpPr>
          <p:cNvPr id="35" name="Text 27"/>
          <p:cNvSpPr/>
          <p:nvPr/>
        </p:nvSpPr>
        <p:spPr>
          <a:xfrm>
            <a:off x="6135624" y="3566160"/>
            <a:ext cx="2596896" cy="1188720"/>
          </a:xfrm>
          <a:prstGeom prst="rect">
            <a:avLst/>
          </a:prstGeom>
          <a:noFill/>
          <a:ln/>
        </p:spPr>
        <p:txBody>
          <a:bodyPr wrap="square" rtlCol="0" anchor="t"/>
          <a:lstStyle/>
          <a:p>
            <a:pPr algn="l" indent="0" marL="0">
              <a:spcAft>
                <a:spcPts val="400"/>
              </a:spcAft>
              <a:buNone/>
            </a:pPr>
            <a:r>
              <a:rPr lang="en-US" sz="1050" dirty="0">
                <a:solidFill>
                  <a:srgbClr val="374151"/>
                </a:solidFill>
                <a:latin typeface="Calibri" pitchFamily="34" charset="0"/>
                <a:ea typeface="Calibri" pitchFamily="34" charset="-122"/>
                <a:cs typeface="Calibri" pitchFamily="34" charset="-120"/>
              </a:rPr>
              <a:t>Balanced income from retail lending, wholesale banking, treasury, and growing fee streams (processing fees, insurance, mutual funds cross-sell). No single revenue concentration.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9A84C"/>
          </a:solidFill>
          <a:ln w="12700">
            <a:solidFill>
              <a:srgbClr val="C9A84C"/>
            </a:solidFill>
            <a:prstDash val="solid"/>
          </a:ln>
        </p:spPr>
      </p:sp>
      <p:sp>
        <p:nvSpPr>
          <p:cNvPr id="3" name="Shape 1"/>
          <p:cNvSpPr/>
          <p:nvPr/>
        </p:nvSpPr>
        <p:spPr>
          <a:xfrm>
            <a:off x="6355080" y="0"/>
            <a:ext cx="2788920" cy="5143500"/>
          </a:xfrm>
          <a:prstGeom prst="rect">
            <a:avLst/>
          </a:prstGeom>
          <a:solidFill>
            <a:srgbClr val="2E4A8A"/>
          </a:solidFill>
          <a:ln w="12700">
            <a:solidFill>
              <a:srgbClr val="2E4A8A"/>
            </a:solidFill>
            <a:prstDash val="solid"/>
          </a:ln>
        </p:spPr>
      </p:sp>
      <p:sp>
        <p:nvSpPr>
          <p:cNvPr id="4" name="Shape 2"/>
          <p:cNvSpPr/>
          <p:nvPr/>
        </p:nvSpPr>
        <p:spPr>
          <a:xfrm>
            <a:off x="6583680" y="182880"/>
            <a:ext cx="100584" cy="100584"/>
          </a:xfrm>
          <a:prstGeom prst="ellipse">
            <a:avLst/>
          </a:prstGeom>
          <a:solidFill>
            <a:srgbClr val="C9A84C">
              <a:alpha val="35000"/>
            </a:srgbClr>
          </a:solidFill>
          <a:ln w="12700">
            <a:solidFill>
              <a:srgbClr val="C9A84C">
                <a:alpha val="35000"/>
              </a:srgbClr>
            </a:solidFill>
            <a:prstDash val="solid"/>
          </a:ln>
        </p:spPr>
      </p:sp>
      <p:sp>
        <p:nvSpPr>
          <p:cNvPr id="5" name="Shape 3"/>
          <p:cNvSpPr/>
          <p:nvPr/>
        </p:nvSpPr>
        <p:spPr>
          <a:xfrm>
            <a:off x="7114032" y="182880"/>
            <a:ext cx="100584" cy="100584"/>
          </a:xfrm>
          <a:prstGeom prst="ellipse">
            <a:avLst/>
          </a:prstGeom>
          <a:solidFill>
            <a:srgbClr val="C9A84C">
              <a:alpha val="35000"/>
            </a:srgbClr>
          </a:solidFill>
          <a:ln w="12700">
            <a:solidFill>
              <a:srgbClr val="C9A84C">
                <a:alpha val="35000"/>
              </a:srgbClr>
            </a:solidFill>
            <a:prstDash val="solid"/>
          </a:ln>
        </p:spPr>
      </p:sp>
      <p:sp>
        <p:nvSpPr>
          <p:cNvPr id="6" name="Shape 4"/>
          <p:cNvSpPr/>
          <p:nvPr/>
        </p:nvSpPr>
        <p:spPr>
          <a:xfrm>
            <a:off x="7644384" y="182880"/>
            <a:ext cx="100584" cy="100584"/>
          </a:xfrm>
          <a:prstGeom prst="ellipse">
            <a:avLst/>
          </a:prstGeom>
          <a:solidFill>
            <a:srgbClr val="C9A84C">
              <a:alpha val="35000"/>
            </a:srgbClr>
          </a:solidFill>
          <a:ln w="12700">
            <a:solidFill>
              <a:srgbClr val="C9A84C">
                <a:alpha val="35000"/>
              </a:srgbClr>
            </a:solidFill>
            <a:prstDash val="solid"/>
          </a:ln>
        </p:spPr>
      </p:sp>
      <p:sp>
        <p:nvSpPr>
          <p:cNvPr id="7" name="Shape 5"/>
          <p:cNvSpPr/>
          <p:nvPr/>
        </p:nvSpPr>
        <p:spPr>
          <a:xfrm>
            <a:off x="8174736" y="182880"/>
            <a:ext cx="100584" cy="100584"/>
          </a:xfrm>
          <a:prstGeom prst="ellipse">
            <a:avLst/>
          </a:prstGeom>
          <a:solidFill>
            <a:srgbClr val="C9A84C">
              <a:alpha val="35000"/>
            </a:srgbClr>
          </a:solidFill>
          <a:ln w="12700">
            <a:solidFill>
              <a:srgbClr val="C9A84C">
                <a:alpha val="35000"/>
              </a:srgbClr>
            </a:solidFill>
            <a:prstDash val="solid"/>
          </a:ln>
        </p:spPr>
      </p:sp>
      <p:sp>
        <p:nvSpPr>
          <p:cNvPr id="8" name="Shape 6"/>
          <p:cNvSpPr/>
          <p:nvPr/>
        </p:nvSpPr>
        <p:spPr>
          <a:xfrm>
            <a:off x="6583680" y="987552"/>
            <a:ext cx="100584" cy="100584"/>
          </a:xfrm>
          <a:prstGeom prst="ellipse">
            <a:avLst/>
          </a:prstGeom>
          <a:solidFill>
            <a:srgbClr val="C9A84C">
              <a:alpha val="35000"/>
            </a:srgbClr>
          </a:solidFill>
          <a:ln w="12700">
            <a:solidFill>
              <a:srgbClr val="C9A84C">
                <a:alpha val="35000"/>
              </a:srgbClr>
            </a:solidFill>
            <a:prstDash val="solid"/>
          </a:ln>
        </p:spPr>
      </p:sp>
      <p:sp>
        <p:nvSpPr>
          <p:cNvPr id="9" name="Shape 7"/>
          <p:cNvSpPr/>
          <p:nvPr/>
        </p:nvSpPr>
        <p:spPr>
          <a:xfrm>
            <a:off x="7114032" y="987552"/>
            <a:ext cx="100584" cy="100584"/>
          </a:xfrm>
          <a:prstGeom prst="ellipse">
            <a:avLst/>
          </a:prstGeom>
          <a:solidFill>
            <a:srgbClr val="C9A84C">
              <a:alpha val="35000"/>
            </a:srgbClr>
          </a:solidFill>
          <a:ln w="12700">
            <a:solidFill>
              <a:srgbClr val="C9A84C">
                <a:alpha val="35000"/>
              </a:srgbClr>
            </a:solidFill>
            <a:prstDash val="solid"/>
          </a:ln>
        </p:spPr>
      </p:sp>
      <p:sp>
        <p:nvSpPr>
          <p:cNvPr id="10" name="Shape 8"/>
          <p:cNvSpPr/>
          <p:nvPr/>
        </p:nvSpPr>
        <p:spPr>
          <a:xfrm>
            <a:off x="7644384" y="987552"/>
            <a:ext cx="100584" cy="100584"/>
          </a:xfrm>
          <a:prstGeom prst="ellipse">
            <a:avLst/>
          </a:prstGeom>
          <a:solidFill>
            <a:srgbClr val="C9A84C">
              <a:alpha val="35000"/>
            </a:srgbClr>
          </a:solidFill>
          <a:ln w="12700">
            <a:solidFill>
              <a:srgbClr val="C9A84C">
                <a:alpha val="35000"/>
              </a:srgbClr>
            </a:solidFill>
            <a:prstDash val="solid"/>
          </a:ln>
        </p:spPr>
      </p:sp>
      <p:sp>
        <p:nvSpPr>
          <p:cNvPr id="11" name="Shape 9"/>
          <p:cNvSpPr/>
          <p:nvPr/>
        </p:nvSpPr>
        <p:spPr>
          <a:xfrm>
            <a:off x="8174736" y="987552"/>
            <a:ext cx="100584" cy="100584"/>
          </a:xfrm>
          <a:prstGeom prst="ellipse">
            <a:avLst/>
          </a:prstGeom>
          <a:solidFill>
            <a:srgbClr val="C9A84C">
              <a:alpha val="35000"/>
            </a:srgbClr>
          </a:solidFill>
          <a:ln w="12700">
            <a:solidFill>
              <a:srgbClr val="C9A84C">
                <a:alpha val="35000"/>
              </a:srgbClr>
            </a:solidFill>
            <a:prstDash val="solid"/>
          </a:ln>
        </p:spPr>
      </p:sp>
      <p:sp>
        <p:nvSpPr>
          <p:cNvPr id="12" name="Shape 10"/>
          <p:cNvSpPr/>
          <p:nvPr/>
        </p:nvSpPr>
        <p:spPr>
          <a:xfrm>
            <a:off x="6583680" y="1792224"/>
            <a:ext cx="100584" cy="100584"/>
          </a:xfrm>
          <a:prstGeom prst="ellipse">
            <a:avLst/>
          </a:prstGeom>
          <a:solidFill>
            <a:srgbClr val="C9A84C">
              <a:alpha val="35000"/>
            </a:srgbClr>
          </a:solidFill>
          <a:ln w="12700">
            <a:solidFill>
              <a:srgbClr val="C9A84C">
                <a:alpha val="35000"/>
              </a:srgbClr>
            </a:solidFill>
            <a:prstDash val="solid"/>
          </a:ln>
        </p:spPr>
      </p:sp>
      <p:sp>
        <p:nvSpPr>
          <p:cNvPr id="13" name="Shape 11"/>
          <p:cNvSpPr/>
          <p:nvPr/>
        </p:nvSpPr>
        <p:spPr>
          <a:xfrm>
            <a:off x="7114032" y="1792224"/>
            <a:ext cx="100584" cy="100584"/>
          </a:xfrm>
          <a:prstGeom prst="ellipse">
            <a:avLst/>
          </a:prstGeom>
          <a:solidFill>
            <a:srgbClr val="C9A84C">
              <a:alpha val="35000"/>
            </a:srgbClr>
          </a:solidFill>
          <a:ln w="12700">
            <a:solidFill>
              <a:srgbClr val="C9A84C">
                <a:alpha val="35000"/>
              </a:srgbClr>
            </a:solidFill>
            <a:prstDash val="solid"/>
          </a:ln>
        </p:spPr>
      </p:sp>
      <p:sp>
        <p:nvSpPr>
          <p:cNvPr id="14" name="Shape 12"/>
          <p:cNvSpPr/>
          <p:nvPr/>
        </p:nvSpPr>
        <p:spPr>
          <a:xfrm>
            <a:off x="7644384" y="1792224"/>
            <a:ext cx="100584" cy="100584"/>
          </a:xfrm>
          <a:prstGeom prst="ellipse">
            <a:avLst/>
          </a:prstGeom>
          <a:solidFill>
            <a:srgbClr val="C9A84C">
              <a:alpha val="35000"/>
            </a:srgbClr>
          </a:solidFill>
          <a:ln w="12700">
            <a:solidFill>
              <a:srgbClr val="C9A84C">
                <a:alpha val="35000"/>
              </a:srgbClr>
            </a:solidFill>
            <a:prstDash val="solid"/>
          </a:ln>
        </p:spPr>
      </p:sp>
      <p:sp>
        <p:nvSpPr>
          <p:cNvPr id="15" name="Shape 13"/>
          <p:cNvSpPr/>
          <p:nvPr/>
        </p:nvSpPr>
        <p:spPr>
          <a:xfrm>
            <a:off x="8174736" y="1792224"/>
            <a:ext cx="100584" cy="100584"/>
          </a:xfrm>
          <a:prstGeom prst="ellipse">
            <a:avLst/>
          </a:prstGeom>
          <a:solidFill>
            <a:srgbClr val="C9A84C">
              <a:alpha val="35000"/>
            </a:srgbClr>
          </a:solidFill>
          <a:ln w="12700">
            <a:solidFill>
              <a:srgbClr val="C9A84C">
                <a:alpha val="35000"/>
              </a:srgbClr>
            </a:solidFill>
            <a:prstDash val="solid"/>
          </a:ln>
        </p:spPr>
      </p:sp>
      <p:sp>
        <p:nvSpPr>
          <p:cNvPr id="16" name="Shape 14"/>
          <p:cNvSpPr/>
          <p:nvPr/>
        </p:nvSpPr>
        <p:spPr>
          <a:xfrm>
            <a:off x="6583680" y="2596896"/>
            <a:ext cx="100584" cy="100584"/>
          </a:xfrm>
          <a:prstGeom prst="ellipse">
            <a:avLst/>
          </a:prstGeom>
          <a:solidFill>
            <a:srgbClr val="C9A84C">
              <a:alpha val="35000"/>
            </a:srgbClr>
          </a:solidFill>
          <a:ln w="12700">
            <a:solidFill>
              <a:srgbClr val="C9A84C">
                <a:alpha val="35000"/>
              </a:srgbClr>
            </a:solidFill>
            <a:prstDash val="solid"/>
          </a:ln>
        </p:spPr>
      </p:sp>
      <p:sp>
        <p:nvSpPr>
          <p:cNvPr id="17" name="Shape 15"/>
          <p:cNvSpPr/>
          <p:nvPr/>
        </p:nvSpPr>
        <p:spPr>
          <a:xfrm>
            <a:off x="7114032" y="2596896"/>
            <a:ext cx="100584" cy="100584"/>
          </a:xfrm>
          <a:prstGeom prst="ellipse">
            <a:avLst/>
          </a:prstGeom>
          <a:solidFill>
            <a:srgbClr val="C9A84C">
              <a:alpha val="35000"/>
            </a:srgbClr>
          </a:solidFill>
          <a:ln w="12700">
            <a:solidFill>
              <a:srgbClr val="C9A84C">
                <a:alpha val="35000"/>
              </a:srgbClr>
            </a:solidFill>
            <a:prstDash val="solid"/>
          </a:ln>
        </p:spPr>
      </p:sp>
      <p:sp>
        <p:nvSpPr>
          <p:cNvPr id="18" name="Shape 16"/>
          <p:cNvSpPr/>
          <p:nvPr/>
        </p:nvSpPr>
        <p:spPr>
          <a:xfrm>
            <a:off x="7644384" y="2596896"/>
            <a:ext cx="100584" cy="100584"/>
          </a:xfrm>
          <a:prstGeom prst="ellipse">
            <a:avLst/>
          </a:prstGeom>
          <a:solidFill>
            <a:srgbClr val="C9A84C">
              <a:alpha val="35000"/>
            </a:srgbClr>
          </a:solidFill>
          <a:ln w="12700">
            <a:solidFill>
              <a:srgbClr val="C9A84C">
                <a:alpha val="35000"/>
              </a:srgbClr>
            </a:solidFill>
            <a:prstDash val="solid"/>
          </a:ln>
        </p:spPr>
      </p:sp>
      <p:sp>
        <p:nvSpPr>
          <p:cNvPr id="19" name="Shape 17"/>
          <p:cNvSpPr/>
          <p:nvPr/>
        </p:nvSpPr>
        <p:spPr>
          <a:xfrm>
            <a:off x="8174736" y="2596896"/>
            <a:ext cx="100584" cy="100584"/>
          </a:xfrm>
          <a:prstGeom prst="ellipse">
            <a:avLst/>
          </a:prstGeom>
          <a:solidFill>
            <a:srgbClr val="C9A84C">
              <a:alpha val="35000"/>
            </a:srgbClr>
          </a:solidFill>
          <a:ln w="12700">
            <a:solidFill>
              <a:srgbClr val="C9A84C">
                <a:alpha val="35000"/>
              </a:srgbClr>
            </a:solidFill>
            <a:prstDash val="solid"/>
          </a:ln>
        </p:spPr>
      </p:sp>
      <p:sp>
        <p:nvSpPr>
          <p:cNvPr id="20" name="Shape 18"/>
          <p:cNvSpPr/>
          <p:nvPr/>
        </p:nvSpPr>
        <p:spPr>
          <a:xfrm>
            <a:off x="6583680" y="3401568"/>
            <a:ext cx="100584" cy="100584"/>
          </a:xfrm>
          <a:prstGeom prst="ellipse">
            <a:avLst/>
          </a:prstGeom>
          <a:solidFill>
            <a:srgbClr val="C9A84C">
              <a:alpha val="35000"/>
            </a:srgbClr>
          </a:solidFill>
          <a:ln w="12700">
            <a:solidFill>
              <a:srgbClr val="C9A84C">
                <a:alpha val="35000"/>
              </a:srgbClr>
            </a:solidFill>
            <a:prstDash val="solid"/>
          </a:ln>
        </p:spPr>
      </p:sp>
      <p:sp>
        <p:nvSpPr>
          <p:cNvPr id="21" name="Shape 19"/>
          <p:cNvSpPr/>
          <p:nvPr/>
        </p:nvSpPr>
        <p:spPr>
          <a:xfrm>
            <a:off x="7114032" y="3401568"/>
            <a:ext cx="100584" cy="100584"/>
          </a:xfrm>
          <a:prstGeom prst="ellipse">
            <a:avLst/>
          </a:prstGeom>
          <a:solidFill>
            <a:srgbClr val="C9A84C">
              <a:alpha val="35000"/>
            </a:srgbClr>
          </a:solidFill>
          <a:ln w="12700">
            <a:solidFill>
              <a:srgbClr val="C9A84C">
                <a:alpha val="35000"/>
              </a:srgbClr>
            </a:solidFill>
            <a:prstDash val="solid"/>
          </a:ln>
        </p:spPr>
      </p:sp>
      <p:sp>
        <p:nvSpPr>
          <p:cNvPr id="22" name="Shape 20"/>
          <p:cNvSpPr/>
          <p:nvPr/>
        </p:nvSpPr>
        <p:spPr>
          <a:xfrm>
            <a:off x="7644384" y="3401568"/>
            <a:ext cx="100584" cy="100584"/>
          </a:xfrm>
          <a:prstGeom prst="ellipse">
            <a:avLst/>
          </a:prstGeom>
          <a:solidFill>
            <a:srgbClr val="C9A84C">
              <a:alpha val="35000"/>
            </a:srgbClr>
          </a:solidFill>
          <a:ln w="12700">
            <a:solidFill>
              <a:srgbClr val="C9A84C">
                <a:alpha val="35000"/>
              </a:srgbClr>
            </a:solidFill>
            <a:prstDash val="solid"/>
          </a:ln>
        </p:spPr>
      </p:sp>
      <p:sp>
        <p:nvSpPr>
          <p:cNvPr id="23" name="Shape 21"/>
          <p:cNvSpPr/>
          <p:nvPr/>
        </p:nvSpPr>
        <p:spPr>
          <a:xfrm>
            <a:off x="8174736" y="3401568"/>
            <a:ext cx="100584" cy="100584"/>
          </a:xfrm>
          <a:prstGeom prst="ellipse">
            <a:avLst/>
          </a:prstGeom>
          <a:solidFill>
            <a:srgbClr val="C9A84C">
              <a:alpha val="35000"/>
            </a:srgbClr>
          </a:solidFill>
          <a:ln w="12700">
            <a:solidFill>
              <a:srgbClr val="C9A84C">
                <a:alpha val="35000"/>
              </a:srgbClr>
            </a:solidFill>
            <a:prstDash val="solid"/>
          </a:ln>
        </p:spPr>
      </p:sp>
      <p:sp>
        <p:nvSpPr>
          <p:cNvPr id="24" name="Shape 22"/>
          <p:cNvSpPr/>
          <p:nvPr/>
        </p:nvSpPr>
        <p:spPr>
          <a:xfrm>
            <a:off x="6583680" y="4206240"/>
            <a:ext cx="100584" cy="100584"/>
          </a:xfrm>
          <a:prstGeom prst="ellipse">
            <a:avLst/>
          </a:prstGeom>
          <a:solidFill>
            <a:srgbClr val="C9A84C">
              <a:alpha val="35000"/>
            </a:srgbClr>
          </a:solidFill>
          <a:ln w="12700">
            <a:solidFill>
              <a:srgbClr val="C9A84C">
                <a:alpha val="35000"/>
              </a:srgbClr>
            </a:solidFill>
            <a:prstDash val="solid"/>
          </a:ln>
        </p:spPr>
      </p:sp>
      <p:sp>
        <p:nvSpPr>
          <p:cNvPr id="25" name="Shape 23"/>
          <p:cNvSpPr/>
          <p:nvPr/>
        </p:nvSpPr>
        <p:spPr>
          <a:xfrm>
            <a:off x="7114032" y="4206240"/>
            <a:ext cx="100584" cy="100584"/>
          </a:xfrm>
          <a:prstGeom prst="ellipse">
            <a:avLst/>
          </a:prstGeom>
          <a:solidFill>
            <a:srgbClr val="C9A84C">
              <a:alpha val="35000"/>
            </a:srgbClr>
          </a:solidFill>
          <a:ln w="12700">
            <a:solidFill>
              <a:srgbClr val="C9A84C">
                <a:alpha val="35000"/>
              </a:srgbClr>
            </a:solidFill>
            <a:prstDash val="solid"/>
          </a:ln>
        </p:spPr>
      </p:sp>
      <p:sp>
        <p:nvSpPr>
          <p:cNvPr id="26" name="Shape 24"/>
          <p:cNvSpPr/>
          <p:nvPr/>
        </p:nvSpPr>
        <p:spPr>
          <a:xfrm>
            <a:off x="7644384" y="4206240"/>
            <a:ext cx="100584" cy="100584"/>
          </a:xfrm>
          <a:prstGeom prst="ellipse">
            <a:avLst/>
          </a:prstGeom>
          <a:solidFill>
            <a:srgbClr val="C9A84C">
              <a:alpha val="35000"/>
            </a:srgbClr>
          </a:solidFill>
          <a:ln w="12700">
            <a:solidFill>
              <a:srgbClr val="C9A84C">
                <a:alpha val="35000"/>
              </a:srgbClr>
            </a:solidFill>
            <a:prstDash val="solid"/>
          </a:ln>
        </p:spPr>
      </p:sp>
      <p:sp>
        <p:nvSpPr>
          <p:cNvPr id="27" name="Shape 25"/>
          <p:cNvSpPr/>
          <p:nvPr/>
        </p:nvSpPr>
        <p:spPr>
          <a:xfrm>
            <a:off x="8174736" y="4206240"/>
            <a:ext cx="100584" cy="100584"/>
          </a:xfrm>
          <a:prstGeom prst="ellipse">
            <a:avLst/>
          </a:prstGeom>
          <a:solidFill>
            <a:srgbClr val="C9A84C">
              <a:alpha val="35000"/>
            </a:srgbClr>
          </a:solidFill>
          <a:ln w="12700">
            <a:solidFill>
              <a:srgbClr val="C9A84C">
                <a:alpha val="35000"/>
              </a:srgbClr>
            </a:solidFill>
            <a:prstDash val="solid"/>
          </a:ln>
        </p:spPr>
      </p:sp>
      <p:sp>
        <p:nvSpPr>
          <p:cNvPr id="28" name="Text 26"/>
          <p:cNvSpPr/>
          <p:nvPr/>
        </p:nvSpPr>
        <p:spPr>
          <a:xfrm>
            <a:off x="402336" y="384048"/>
            <a:ext cx="5760720" cy="594360"/>
          </a:xfrm>
          <a:prstGeom prst="rect">
            <a:avLst/>
          </a:prstGeom>
          <a:noFill/>
          <a:ln/>
        </p:spPr>
        <p:txBody>
          <a:bodyPr wrap="square" rtlCol="0" anchor="ctr"/>
          <a:lstStyle/>
          <a:p>
            <a:pPr indent="0" marL="0">
              <a:buNone/>
            </a:pPr>
            <a:r>
              <a:rPr lang="en-US" sz="3400" b="1" spc="100" kern="0" dirty="0">
                <a:solidFill>
                  <a:srgbClr val="FFFFFF"/>
                </a:solidFill>
                <a:latin typeface="Calibri" pitchFamily="34" charset="0"/>
                <a:ea typeface="Calibri" pitchFamily="34" charset="-122"/>
                <a:cs typeface="Calibri" pitchFamily="34" charset="-120"/>
              </a:rPr>
              <a:t>INVESTMENT CONCLUSION</a:t>
            </a:r>
            <a:endParaRPr lang="en-US" sz="3400" dirty="0"/>
          </a:p>
        </p:txBody>
      </p:sp>
      <p:sp>
        <p:nvSpPr>
          <p:cNvPr id="29" name="Shape 27"/>
          <p:cNvSpPr/>
          <p:nvPr/>
        </p:nvSpPr>
        <p:spPr>
          <a:xfrm>
            <a:off x="402336" y="1005840"/>
            <a:ext cx="5303520" cy="54864"/>
          </a:xfrm>
          <a:prstGeom prst="rect">
            <a:avLst/>
          </a:prstGeom>
          <a:solidFill>
            <a:srgbClr val="C9A84C"/>
          </a:solidFill>
          <a:ln w="12700">
            <a:solidFill>
              <a:srgbClr val="C9A84C"/>
            </a:solidFill>
            <a:prstDash val="solid"/>
          </a:ln>
        </p:spPr>
      </p:sp>
      <p:sp>
        <p:nvSpPr>
          <p:cNvPr id="30" name="Text 28"/>
          <p:cNvSpPr/>
          <p:nvPr/>
        </p:nvSpPr>
        <p:spPr>
          <a:xfrm>
            <a:off x="402336" y="1133856"/>
            <a:ext cx="5760720" cy="2651760"/>
          </a:xfrm>
          <a:prstGeom prst="rect">
            <a:avLst/>
          </a:prstGeom>
          <a:noFill/>
          <a:ln/>
        </p:spPr>
        <p:txBody>
          <a:bodyPr wrap="square" rtlCol="0" anchor="t"/>
          <a:lstStyle/>
          <a:p>
            <a:pPr algn="l" indent="0" marL="0">
              <a:spcAft>
                <a:spcPts val="700"/>
              </a:spcAft>
              <a:buNone/>
            </a:pPr>
            <a:r>
              <a:rPr lang="en-US" sz="1100" dirty="0">
                <a:solidFill>
                  <a:srgbClr val="D6DCE4"/>
                </a:solidFill>
                <a:latin typeface="Calibri" pitchFamily="34" charset="0"/>
                <a:ea typeface="Calibri" pitchFamily="34" charset="-122"/>
                <a:cs typeface="Calibri" pitchFamily="34" charset="-120"/>
              </a:rPr>
              <a:t>Overall, HDFC Bank represents a high-quality banking franchise characterized by strong fundamentals, disciplined risk management, and consistent profitability. Its ability to sustain growth while maintaining capital strength and operational efficiency makes it one of the most resilient and well-managed banks in the Indian financial sector.</a:t>
            </a:r>
            <a:endParaRPr lang="en-US" sz="1100" dirty="0"/>
          </a:p>
          <a:p>
            <a:pPr algn="l" indent="0" marL="0">
              <a:spcAft>
                <a:spcPts val="700"/>
              </a:spcAft>
              <a:buNone/>
            </a:pPr>
            <a:endParaRPr lang="en-US" sz="1100" dirty="0"/>
          </a:p>
          <a:p>
            <a:pPr algn="l" indent="0" marL="0">
              <a:spcAft>
                <a:spcPts val="700"/>
              </a:spcAft>
              <a:buNone/>
            </a:pPr>
            <a:r>
              <a:rPr lang="en-US" sz="1100" dirty="0">
                <a:solidFill>
                  <a:srgbClr val="D6DCE4"/>
                </a:solidFill>
                <a:latin typeface="Calibri" pitchFamily="34" charset="0"/>
                <a:ea typeface="Calibri" pitchFamily="34" charset="-122"/>
                <a:cs typeface="Calibri" pitchFamily="34" charset="-120"/>
              </a:rPr>
              <a:t>The bank's combination of a dominant deposit franchise, industry-leading asset quality, strong digital infrastructure, and improving ROE trajectory positions it favorably for the next phase of India's credit expansion cycle. With the HDFC Ltd. merger now complete, the bank enters a period of synergy realization that should drive meaningful ROE recovery from ~9.3% in FY26 to an estimated ~17.5% by FY30.</a:t>
            </a:r>
            <a:endParaRPr lang="en-US" sz="1100" dirty="0"/>
          </a:p>
          <a:p>
            <a:pPr algn="l" indent="0" marL="0">
              <a:spcAft>
                <a:spcPts val="700"/>
              </a:spcAft>
              <a:buNone/>
            </a:pPr>
            <a:endParaRPr lang="en-US" sz="1100" dirty="0"/>
          </a:p>
          <a:p>
            <a:pPr algn="l" indent="0" marL="0">
              <a:spcAft>
                <a:spcPts val="700"/>
              </a:spcAft>
              <a:buNone/>
            </a:pPr>
            <a:r>
              <a:rPr lang="en-US" sz="1100" dirty="0">
                <a:solidFill>
                  <a:srgbClr val="D6DCE4"/>
                </a:solidFill>
                <a:latin typeface="Calibri" pitchFamily="34" charset="0"/>
                <a:ea typeface="Calibri" pitchFamily="34" charset="-122"/>
                <a:cs typeface="Calibri" pitchFamily="34" charset="-120"/>
              </a:rPr>
              <a:t>At current valuations, the stock represents fair value, with a justified P/B of 1.63x and a target price of ₹119.10. Long-term investors should consider accumulating on any meaningful correction below ₹100.</a:t>
            </a:r>
            <a:endParaRPr lang="en-US" sz="1100" dirty="0"/>
          </a:p>
        </p:txBody>
      </p:sp>
      <p:sp>
        <p:nvSpPr>
          <p:cNvPr id="31" name="Shape 29"/>
          <p:cNvSpPr/>
          <p:nvPr/>
        </p:nvSpPr>
        <p:spPr>
          <a:xfrm>
            <a:off x="6510528" y="1261872"/>
            <a:ext cx="2468880" cy="1572768"/>
          </a:xfrm>
          <a:prstGeom prst="rect">
            <a:avLst/>
          </a:prstGeom>
          <a:solidFill>
            <a:srgbClr val="C9A84C"/>
          </a:solidFill>
          <a:ln w="12700">
            <a:solidFill>
              <a:srgbClr val="C9A84C"/>
            </a:solidFill>
            <a:prstDash val="solid"/>
          </a:ln>
        </p:spPr>
      </p:sp>
      <p:sp>
        <p:nvSpPr>
          <p:cNvPr id="32" name="Text 30"/>
          <p:cNvSpPr/>
          <p:nvPr/>
        </p:nvSpPr>
        <p:spPr>
          <a:xfrm>
            <a:off x="6510528" y="1316736"/>
            <a:ext cx="2468880" cy="347472"/>
          </a:xfrm>
          <a:prstGeom prst="rect">
            <a:avLst/>
          </a:prstGeom>
          <a:noFill/>
          <a:ln/>
        </p:spPr>
        <p:txBody>
          <a:bodyPr wrap="square" rtlCol="0" anchor="ctr"/>
          <a:lstStyle/>
          <a:p>
            <a:pPr algn="ctr" indent="0" marL="0">
              <a:buNone/>
            </a:pPr>
            <a:r>
              <a:rPr lang="en-US" sz="1300" b="1" spc="400" kern="0" dirty="0">
                <a:solidFill>
                  <a:srgbClr val="1F3864"/>
                </a:solidFill>
                <a:latin typeface="Calibri" pitchFamily="34" charset="0"/>
                <a:ea typeface="Calibri" pitchFamily="34" charset="-122"/>
                <a:cs typeface="Calibri" pitchFamily="34" charset="-120"/>
              </a:rPr>
              <a:t>RATING</a:t>
            </a:r>
            <a:endParaRPr lang="en-US" sz="1300" dirty="0"/>
          </a:p>
        </p:txBody>
      </p:sp>
      <p:sp>
        <p:nvSpPr>
          <p:cNvPr id="33" name="Text 31"/>
          <p:cNvSpPr/>
          <p:nvPr/>
        </p:nvSpPr>
        <p:spPr>
          <a:xfrm>
            <a:off x="6510528" y="1627632"/>
            <a:ext cx="2468880" cy="713232"/>
          </a:xfrm>
          <a:prstGeom prst="rect">
            <a:avLst/>
          </a:prstGeom>
          <a:noFill/>
          <a:ln/>
        </p:spPr>
        <p:txBody>
          <a:bodyPr wrap="square" rtlCol="0" anchor="ctr"/>
          <a:lstStyle/>
          <a:p>
            <a:pPr algn="ctr" indent="0" marL="0">
              <a:buNone/>
            </a:pPr>
            <a:r>
              <a:rPr lang="en-US" sz="4200" b="1" dirty="0">
                <a:solidFill>
                  <a:srgbClr val="1F3864"/>
                </a:solidFill>
                <a:latin typeface="Calibri" pitchFamily="34" charset="0"/>
                <a:ea typeface="Calibri" pitchFamily="34" charset="-122"/>
                <a:cs typeface="Calibri" pitchFamily="34" charset="-120"/>
              </a:rPr>
              <a:t>HOLD</a:t>
            </a:r>
            <a:endParaRPr lang="en-US" sz="4200" dirty="0"/>
          </a:p>
        </p:txBody>
      </p:sp>
      <p:sp>
        <p:nvSpPr>
          <p:cNvPr id="34" name="Text 32"/>
          <p:cNvSpPr/>
          <p:nvPr/>
        </p:nvSpPr>
        <p:spPr>
          <a:xfrm>
            <a:off x="6510528" y="2322576"/>
            <a:ext cx="2468880" cy="274320"/>
          </a:xfrm>
          <a:prstGeom prst="rect">
            <a:avLst/>
          </a:prstGeom>
          <a:noFill/>
          <a:ln/>
        </p:spPr>
        <p:txBody>
          <a:bodyPr wrap="square" rtlCol="0" anchor="ctr"/>
          <a:lstStyle/>
          <a:p>
            <a:pPr algn="ctr" indent="0" marL="0">
              <a:buNone/>
            </a:pPr>
            <a:r>
              <a:rPr lang="en-US" sz="1200" b="1" dirty="0">
                <a:solidFill>
                  <a:srgbClr val="1F3864"/>
                </a:solidFill>
                <a:latin typeface="Calibri" pitchFamily="34" charset="0"/>
                <a:ea typeface="Calibri" pitchFamily="34" charset="-122"/>
                <a:cs typeface="Calibri" pitchFamily="34" charset="-120"/>
              </a:rPr>
              <a:t>Target Price: ₹119.10</a:t>
            </a:r>
            <a:endParaRPr lang="en-US" sz="1200" dirty="0"/>
          </a:p>
        </p:txBody>
      </p:sp>
      <p:sp>
        <p:nvSpPr>
          <p:cNvPr id="35" name="Text 33"/>
          <p:cNvSpPr/>
          <p:nvPr/>
        </p:nvSpPr>
        <p:spPr>
          <a:xfrm>
            <a:off x="6510528" y="2633472"/>
            <a:ext cx="2468880" cy="237744"/>
          </a:xfrm>
          <a:prstGeom prst="rect">
            <a:avLst/>
          </a:prstGeom>
          <a:noFill/>
          <a:ln/>
        </p:spPr>
        <p:txBody>
          <a:bodyPr wrap="square" rtlCol="0" anchor="ctr"/>
          <a:lstStyle/>
          <a:p>
            <a:pPr algn="ctr" indent="0" marL="0">
              <a:buNone/>
            </a:pPr>
            <a:r>
              <a:rPr lang="en-US" sz="1000" dirty="0">
                <a:solidFill>
                  <a:srgbClr val="4A3000"/>
                </a:solidFill>
                <a:latin typeface="Calibri" pitchFamily="34" charset="0"/>
                <a:ea typeface="Calibri" pitchFamily="34" charset="-122"/>
                <a:cs typeface="Calibri" pitchFamily="34" charset="-120"/>
              </a:rPr>
              <a:t>Accumulate ≤ ₹100</a:t>
            </a:r>
            <a:endParaRPr lang="en-US" sz="1000" dirty="0"/>
          </a:p>
        </p:txBody>
      </p:sp>
      <p:sp>
        <p:nvSpPr>
          <p:cNvPr id="36" name="Text 34"/>
          <p:cNvSpPr/>
          <p:nvPr/>
        </p:nvSpPr>
        <p:spPr>
          <a:xfrm>
            <a:off x="402336" y="4041648"/>
            <a:ext cx="5760720" cy="219456"/>
          </a:xfrm>
          <a:prstGeom prst="rect">
            <a:avLst/>
          </a:prstGeom>
          <a:noFill/>
          <a:ln/>
        </p:spPr>
        <p:txBody>
          <a:bodyPr wrap="square" rtlCol="0" anchor="ctr"/>
          <a:lstStyle/>
          <a:p>
            <a:pPr algn="l" indent="0" marL="0">
              <a:buNone/>
            </a:pPr>
            <a:r>
              <a:rPr lang="en-US" sz="1000" dirty="0">
                <a:solidFill>
                  <a:srgbClr val="E8C97A"/>
                </a:solidFill>
                <a:latin typeface="Calibri" pitchFamily="34" charset="0"/>
                <a:ea typeface="Calibri" pitchFamily="34" charset="-122"/>
                <a:cs typeface="Calibri" pitchFamily="34" charset="-120"/>
              </a:rPr>
              <a:t>▶  Strong fundamentals — best-in-class CASA, asset quality &amp; digital infrastructure</a:t>
            </a:r>
            <a:endParaRPr lang="en-US" sz="1000" dirty="0"/>
          </a:p>
        </p:txBody>
      </p:sp>
      <p:sp>
        <p:nvSpPr>
          <p:cNvPr id="37" name="Text 35"/>
          <p:cNvSpPr/>
          <p:nvPr/>
        </p:nvSpPr>
        <p:spPr>
          <a:xfrm>
            <a:off x="402336" y="4261104"/>
            <a:ext cx="5760720" cy="219456"/>
          </a:xfrm>
          <a:prstGeom prst="rect">
            <a:avLst/>
          </a:prstGeom>
          <a:noFill/>
          <a:ln/>
        </p:spPr>
        <p:txBody>
          <a:bodyPr wrap="square" rtlCol="0" anchor="ctr"/>
          <a:lstStyle/>
          <a:p>
            <a:pPr algn="l" indent="0" marL="0">
              <a:buNone/>
            </a:pPr>
            <a:r>
              <a:rPr lang="en-US" sz="1000" dirty="0">
                <a:solidFill>
                  <a:srgbClr val="E8C97A"/>
                </a:solidFill>
                <a:latin typeface="Calibri" pitchFamily="34" charset="0"/>
                <a:ea typeface="Calibri" pitchFamily="34" charset="-122"/>
                <a:cs typeface="Calibri" pitchFamily="34" charset="-120"/>
              </a:rPr>
              <a:t>▶  ROE recovery trajectory: 9.3% FY26 → 17.5% FY30 as merger synergies unlock</a:t>
            </a:r>
            <a:endParaRPr lang="en-US" sz="1000" dirty="0"/>
          </a:p>
        </p:txBody>
      </p:sp>
      <p:sp>
        <p:nvSpPr>
          <p:cNvPr id="38" name="Text 36"/>
          <p:cNvSpPr/>
          <p:nvPr/>
        </p:nvSpPr>
        <p:spPr>
          <a:xfrm>
            <a:off x="402336" y="4480560"/>
            <a:ext cx="5760720" cy="219456"/>
          </a:xfrm>
          <a:prstGeom prst="rect">
            <a:avLst/>
          </a:prstGeom>
          <a:noFill/>
          <a:ln/>
        </p:spPr>
        <p:txBody>
          <a:bodyPr wrap="square" rtlCol="0" anchor="ctr"/>
          <a:lstStyle/>
          <a:p>
            <a:pPr algn="l" indent="0" marL="0">
              <a:buNone/>
            </a:pPr>
            <a:r>
              <a:rPr lang="en-US" sz="1000" dirty="0">
                <a:solidFill>
                  <a:srgbClr val="E8C97A"/>
                </a:solidFill>
                <a:latin typeface="Calibri" pitchFamily="34" charset="0"/>
                <a:ea typeface="Calibri" pitchFamily="34" charset="-122"/>
                <a:cs typeface="Calibri" pitchFamily="34" charset="-120"/>
              </a:rPr>
              <a:t>▶  16% loan CAGR projected through FY30 — net income ₹1,35,879 Cr by FY30</a:t>
            </a:r>
            <a:endParaRPr lang="en-US" sz="1000" dirty="0"/>
          </a:p>
        </p:txBody>
      </p:sp>
      <p:sp>
        <p:nvSpPr>
          <p:cNvPr id="39" name="Text 37"/>
          <p:cNvSpPr/>
          <p:nvPr/>
        </p:nvSpPr>
        <p:spPr>
          <a:xfrm>
            <a:off x="402336" y="4700016"/>
            <a:ext cx="5760720" cy="219456"/>
          </a:xfrm>
          <a:prstGeom prst="rect">
            <a:avLst/>
          </a:prstGeom>
          <a:noFill/>
          <a:ln/>
        </p:spPr>
        <p:txBody>
          <a:bodyPr wrap="square" rtlCol="0" anchor="ctr"/>
          <a:lstStyle/>
          <a:p>
            <a:pPr algn="l" indent="0" marL="0">
              <a:buNone/>
            </a:pPr>
            <a:r>
              <a:rPr lang="en-US" sz="1000" dirty="0">
                <a:solidFill>
                  <a:srgbClr val="E8C97A"/>
                </a:solidFill>
                <a:latin typeface="Calibri" pitchFamily="34" charset="0"/>
                <a:ea typeface="Calibri" pitchFamily="34" charset="-122"/>
                <a:cs typeface="Calibri" pitchFamily="34" charset="-120"/>
              </a:rPr>
              <a:t>▶  Limited near-term upside at CMP; significant value available on dips below ₹100</a:t>
            </a:r>
            <a:endParaRPr lang="en-US" sz="1000" dirty="0"/>
          </a:p>
        </p:txBody>
      </p:sp>
      <p:sp>
        <p:nvSpPr>
          <p:cNvPr id="40" name="Text 38"/>
          <p:cNvSpPr/>
          <p:nvPr/>
        </p:nvSpPr>
        <p:spPr>
          <a:xfrm>
            <a:off x="402336" y="4846320"/>
            <a:ext cx="8339328" cy="182880"/>
          </a:xfrm>
          <a:prstGeom prst="rect">
            <a:avLst/>
          </a:prstGeom>
          <a:noFill/>
          <a:ln/>
        </p:spPr>
        <p:txBody>
          <a:bodyPr wrap="square" rtlCol="0" anchor="ctr"/>
          <a:lstStyle/>
          <a:p>
            <a:pPr algn="l" indent="0" marL="0">
              <a:buNone/>
            </a:pPr>
            <a:r>
              <a:rPr lang="en-US" sz="850" dirty="0">
                <a:solidFill>
                  <a:srgbClr val="556677"/>
                </a:solidFill>
                <a:latin typeface="Calibri" pitchFamily="34" charset="0"/>
                <a:ea typeface="Calibri" pitchFamily="34" charset="-122"/>
                <a:cs typeface="Calibri" pitchFamily="34" charset="-120"/>
              </a:rPr>
              <a:t>This report is for informational purposes only and does not constitute investment advice. Projections are forward-looking estimates subject to change.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HDFC Bank – Company Overview</dc:title>
  <dc:subject>PptxGenJS Presentation</dc:subject>
  <dc:creator>PptxGenJS</dc:creator>
  <cp:lastModifiedBy>PptxGenJS</cp:lastModifiedBy>
  <cp:revision>1</cp:revision>
  <dcterms:created xsi:type="dcterms:W3CDTF">2026-03-11T08:48:28Z</dcterms:created>
  <dcterms:modified xsi:type="dcterms:W3CDTF">2026-03-11T08:48:28Z</dcterms:modified>
</cp:coreProperties>
</file>